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examiners and faculty members. Today, I am presenting my final-year capstone project: 'Badminton Posture Detection and Injury Risk Assessment Using Machine Learning'.</a:t>
            </a:r>
          </a:p>
          <a:p/>
          <a:p>
            <a:r>
              <a:t>In modern racket sports, badminton is widely recognized as one of the fastest and physically demanding games in the world. Players execute rapid lunges, high-altitude jump smashes, and aggressive lateral directional cuts hundreds of times per match.</a:t>
            </a:r>
          </a:p>
          <a:p/>
          <a:p>
            <a:r>
              <a:t>The central goal of this project is to build an automated, non-invasive vision pipeline that takes standard broadcast or lateral camera footage, detects key badminton movements, extracts anatomically meaningful joint angles, classifies the movement with machine learning, and flags potential posture injury-risk indicators using a deterministic 0-100 biomechanical screening score—all without requiring athletes to wear physical sensors.</a:t>
            </a:r>
          </a:p>
          <a:p/>
          <a:p>
            <a:r>
              <a:t>[Examiners, please note: Candidate name Pavan H S is confirmed. Internal Guide, Roll No, and Institution details are marked as placeholders for final administrative confirmation.]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Examiners, to appreciate the clinical urgency of this project, consider what happens physically during a 45-minute badminton match. </a:t>
            </a:r>
          </a:p>
          <a:p/>
          <a:p>
            <a:r>
              <a:t>When a player lunges forward at the net or lands from an overhead jump smash, their leading limb must brake their full momentum in under 150 milliseconds. Sports medicine studies show ground reaction forces frequently exceed 2.5 to 3.0 times the athlete's body weight. If the knee is excessively stiff or if the torso tilts heavily outside the base of support, these massive deceleration forces are transferred directly to passive ligamentous structures—particularly the Anterior Cruciate Ligament (ACL) and patellar tendon.</a:t>
            </a:r>
          </a:p>
          <a:p/>
          <a:p>
            <a:r>
              <a:t>Currently, if an athlete wants their movement mechanics analyzed, they must go into a specialized biomechanics laboratory with Vicon optical motion capture systems costing over fifty thousand dollars and wear retro-reflective markers glued to their skin. Alternatively, wearable IMU sensors alter natural swing mechanics and experience drift upon ground impact shocks.</a:t>
            </a:r>
          </a:p>
          <a:p/>
          <a:p>
            <a:r>
              <a:t>Our project fills this gap: we leverage standard, non-invasive monocular video feeds, extract 3D joint landmarks frame-by-frame, and provide automated movement classification and biomechanical posture screening.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define our technical objectives alongside our explicit scope boundaries.</a:t>
            </a:r>
          </a:p>
          <a:p/>
          <a:p>
            <a:r>
              <a:t>On the left, our five engineering objectives establish a complete end-to-end pipeline: from monocular video decoding and MediaPipe 3D pose extraction, through sequence feature engineering, machine learning classification, biomechanical risk evaluation with a deterministic 0-100 screening score, to an auditable web dashboard.</a:t>
            </a:r>
          </a:p>
          <a:p/>
          <a:p>
            <a:r>
              <a:t>On the right, we highlight our scientific honesty and non-goals. First, our active target classes are strictly focused on three high-impact actions: Lunge, Overhead Smash Landing, and Change of Direction. Two previously considered actions—Scissor Jump and Footwork Split Step—were retired due to class overlap and sample sparsity.</a:t>
            </a:r>
          </a:p>
          <a:p/>
          <a:p>
            <a:r>
              <a:t>Second, and most crucially: we explicitly distinguish Movement Classification from Injury Risk Assessment. Our machine learning model classifies WHAT movement occurred. It does NOT predict clinical injury outcomes, because predicting when a ligament will tear requires medical history, tissue health, and fatigue data that video cameras cannot observe. Our risk assessment is a provisional rule-based rubric based on sports science literature.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depicts our complete system architecture across five decoupled pipeline stages.</a:t>
            </a:r>
          </a:p>
          <a:p/>
          <a:p>
            <a:r>
              <a:t>In Stage 1, OpenCV ingests standard broadcast or court-side video, resamples frames at 15 FPS for real-time efficiency, and validates stream integrity.</a:t>
            </a:r>
          </a:p>
          <a:p/>
          <a:p>
            <a:r>
              <a:t>In Stage 2, Google MediaPipe Pose extracts 33 3D body keypoints. Here, we implemented a critical innovation: Decoupled Lower-Body Quality Scoring, which ensures that fast racket swings blurring upper limbs do not falsely invalidate lower-body leg tracking.</a:t>
            </a:r>
          </a:p>
          <a:p/>
          <a:p>
            <a:r>
              <a:t>In Stage 3, a sliding-window candidate detector identifies physical motion triggers—such as hip drops or wide stances—and our proprietary keyframe selection algorithm isolates the exact instant of ground impact plant.</a:t>
            </a:r>
          </a:p>
          <a:p/>
          <a:p>
            <a:r>
              <a:t>In Stage 4, 10 sequence kinematic features are aggregated and passed to our Random Forest classifier, producing class probabilities across our target actions.</a:t>
            </a:r>
          </a:p>
          <a:p/>
          <a:p>
            <a:r>
              <a:t>Finally, in Stage 5, Biomechanical Risk Rubric v0.3 evaluates joint angles using our newly implemented deterministic 0-100 screening score, and results are presented on an interactive Streamlit web interface and persistently logged into a local SQLite database for auditable tracking.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details our computer vision and biomechanical feature engineering layer.</a:t>
            </a:r>
          </a:p>
          <a:p/>
          <a:p>
            <a:r>
              <a:t>Google MediaPipe Pose extracts 33 landmarks with normalized x, y coordinates and relative depth z. However, in badminton, athletes swing their rackets at speeds exceeding 300 km/h. This creates severe motion blur on the wrists and elbows, dropping MediaPipe's overall pose quality metric down to 0.12 in rapid overhead shots. In early versions, this caused the pipeline to falsely abort processing.</a:t>
            </a:r>
          </a:p>
          <a:p/>
          <a:p>
            <a:r>
              <a:t>To solve this, we implemented our Decoupled Lower-Body Quality Metric. By isolating the landmarks required for lower-limb biomechanics—the hips, knees, and ankles—we discovered that even when upper-limb quality drops to 0.12, lower-body quality remains pristine at 0.85 to 0.95. This allows our risk evaluator to proceed safely without false aborts.</a:t>
            </a:r>
          </a:p>
          <a:p/>
          <a:p>
            <a:r>
              <a:t>From these landmarks, we condense frame sequences into 10 anatomically grounded features: lead and trail knee flexions, bilateral asymmetry, forward torso lean, lateral trunk tilt, stance width ratio, and vertical hip displacement. These 10 features capture the essential mechanics of badminton deceleration.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addresses temporal segmentation: how do we find when a movement occurs in a continuous video, and which exact frame should we inspect?</a:t>
            </a:r>
          </a:p>
          <a:p/>
          <a:p>
            <a:r>
              <a:t>Our candidate detector uses multi-signal kinematic thresholds across a sliding window: vertical hip displacement triggers jump smashes, wide stance ratios trigger forward lunges, and lateral trunk lean triggers changes of direction.</a:t>
            </a:r>
          </a:p>
          <a:p/>
          <a:p>
            <a:r>
              <a:t>Once a candidate interval is segmented, we must choose the representative keyframe to display to the coach and extract risk metrics. In early prototypes, the system naively chose the mathematical midpoint of the clip. For a jump smash, the flight lasts for 75% of the window and the landing happens in the final 20%. The midpoint captured the player floating mid-air, completely missing the landing impact!</a:t>
            </a:r>
          </a:p>
          <a:p/>
          <a:p>
            <a:r>
              <a:t>We solved this with our '_select_representative_frame' algorithm. By applying local median smoothing across knee flexion angles and hip trajectories, the system accurately detects the exact frame of maximum ground impact plant depth. This algorithm is backed by 100% passing unit tests.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presents our active movement taxonomy and explains why we refined our class set.</a:t>
            </a:r>
          </a:p>
          <a:p/>
          <a:p>
            <a:r>
              <a:t>Our system focuses on the three highest-impact movements in badminton:</a:t>
            </a:r>
          </a:p>
          <a:p>
            <a:r>
              <a:t>1. Lunge: the forward braking step where patellofemoral and ACL shear forces peak during net retrieval.</a:t>
            </a:r>
          </a:p>
          <a:p>
            <a:r>
              <a:t>2. Overhead Smash Landing: where ground reaction forces reach 2.5 to 3.0 times body weight, making bilateral impact absorption critical.</a:t>
            </a:r>
          </a:p>
          <a:p>
            <a:r>
              <a:t>3. Change of Direction: the lateral cutting plant that represents the single most common mechanism for non-contact ACL tears.</a:t>
            </a:r>
          </a:p>
          <a:p/>
          <a:p>
            <a:r>
              <a:t>Earlier project iterations included two additional categories: Scissor Jump and Footwork Split Step. However, our dataset audit revealed that Scissor Jumps had fewer than five genuine examples and exhibited severe visual ambiguity with lateral cuts. The Split Step is a low-amplitude preparatory bounce with virtually zero injury risk. </a:t>
            </a:r>
          </a:p>
          <a:p/>
          <a:p>
            <a:r>
              <a:t>By formally retiring these two categories, we eliminated severe class confusion and concentrated our model capacity on the three movements where biomechanical screening truly matters.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outlines our dataset curation process and data integrity safeguards.</a:t>
            </a:r>
          </a:p>
          <a:p/>
          <a:p>
            <a:r>
              <a:t>We started with match footage across six distinct players. Our automated candidate detector proposed 370 raw movement windows, from which 347 subclips were extracted. </a:t>
            </a:r>
          </a:p>
          <a:p/>
          <a:p>
            <a:r>
              <a:t>Rather than naively training our model on automated proposals—which would cause confirmation bias—we implemented a strict Human-in-the-Loop review protocol. Every clip was visually reviewed under an ACCEPT, REJECT, or UNCERTAIN decision schema. </a:t>
            </a:r>
          </a:p>
          <a:p/>
          <a:p>
            <a:r>
              <a:t>Through this process, we verified 161 clean sequence events: 72 smash landings, 45 changes of direction, and 44 lunges. </a:t>
            </a:r>
          </a:p>
          <a:p/>
          <a:p>
            <a:r>
              <a:t>Crucially, we instituted strict Anti-Data-Pollution safeguards: automated proposals and review records are physically decoupled. Unreviewed model predictions can never enter the training set, ensuring our machine learning model is trained exclusively on human-verified biomechanical ground truth.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presents our model evaluation results under 3-Fold Player-Grouped Cross-Validation.</a:t>
            </a:r>
          </a:p>
          <a:p/>
          <a:p>
            <a:r>
              <a:t>Our Random Forest classifier achieves an overall accuracy of 62.1% and a macro-averaged F1 score of 0.576. Compared to an untrained kinematic baseline of 32.9% accuracy, our model demonstrates a substantial 29% performance lift.</a:t>
            </a:r>
          </a:p>
          <a:p/>
          <a:p>
            <a:r>
              <a:t>Examiners might ask: why is accuracy 62% when published vision papers report 90% or higher? </a:t>
            </a:r>
          </a:p>
          <a:p/>
          <a:p>
            <a:r>
              <a:t>The answer lies in our evaluation methodology: Zero Data Leakage. In video action recognition, performing a random frame-level train/test split leaks player identity—the model memorizes the athlete's clothing, court lighting, and body shape. We strictly enforced Player-Grouped Cross-Validation: athletes in the test folds were completely unseen during training.</a:t>
            </a:r>
          </a:p>
          <a:p/>
          <a:p>
            <a:r>
              <a:t>Furthermore, we transparently report our cohort limitations: our dataset comprises six athletes, with Player 05 representing 48% of samples. When Player 05 is held out in Fold 1, F1 drops to 0.485, but climbs to 0.702 in Fold 3. Additionally, while Jump Smashes achieve an F1 of 0.819 due to distinctive vertical displacement, Lunges (recall 0.455) and Changes of Direction (F1 0.409) exhibit mutual confusion because lateral plants look very similar to short lunges in monocular lateral video.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our newly implemented numerical biomechanical screening score under Rubric v0.3.</a:t>
            </a:r>
          </a:p>
          <a:p/>
          <a:p>
            <a:r>
              <a:t>To provide coaches and athletes with an interpretable, standardized posture quality index across assessable badminton movements, we designed a deterministic scoring model strictly bounded between 0 and 100.</a:t>
            </a:r>
          </a:p>
          <a:p/>
          <a:p>
            <a:r>
              <a:t>The score formula is:</a:t>
            </a:r>
          </a:p>
          <a:p>
            <a:r>
              <a:t>Score = knee contribution + torso-lean contribution + asymmetry contribution</a:t>
            </a:r>
          </a:p>
          <a:p>
            <a:r>
              <a:t>with maximum contributions of 40, 35, and 25 points respectively, summing to a total maximum of 100 points:</a:t>
            </a:r>
          </a:p>
          <a:p>
            <a:r>
              <a:t>1. Knee contribution (maximum 40 points): Evaluates shock cushioning during landing or plant deceleration. Optimal knee flexion between 95 and 115 degrees receives 0 points. Stiff landings exceeding 115 degrees receive linear penalties up to 40 points at 160 degrees. Acute hyperflexion below 95 degrees also scales up to 40 points at 60 degrees.</a:t>
            </a:r>
          </a:p>
          <a:p>
            <a:r>
              <a:t>2. Torso-lean contribution (maximum 35 points): Evaluates trunk inclination relative to vertical. Trunk lean up to 15 degrees receives 0 points, with linear penalties scaling up to 35 points at 45 degrees when the upper body tilts outside the base of support.</a:t>
            </a:r>
          </a:p>
          <a:p>
            <a:r>
              <a:t>3. Asymmetry contribution (maximum 25 points): Evaluates bilateral knee flexion asymmetry |theta_L - theta_R| during bilateral ground contact. Asymmetry up to 10 degrees receives 0 points, scaling linearly up to 25 points at 45 degrees.</a:t>
            </a:r>
          </a:p>
          <a:p/>
          <a:p>
            <a:r>
              <a:t>The total score maps to four provisional categories:</a:t>
            </a:r>
          </a:p>
          <a:p>
            <a:r>
              <a:t>- LOW (0–29.9): Demonstrates sound joint mechanics within recommended kinematic envelopes.</a:t>
            </a:r>
          </a:p>
          <a:p>
            <a:r>
              <a:t>- MODERATE (30–59.9): Exhibits noticeable knee stiffness, trunk lean, or asymmetry.</a:t>
            </a:r>
          </a:p>
          <a:p>
            <a:r>
              <a:t>- HIGH (60–100): Indicates substantial postural deviation with elevated joint loading.</a:t>
            </a:r>
          </a:p>
          <a:p>
            <a:r>
              <a:t>- UNASSESSED: Assigned when evidence is insufficient, such as when pose tracking quality is below 0.45 or movement is not assessable.</a:t>
            </a:r>
          </a:p>
          <a:p/>
          <a:p>
            <a:r>
              <a:t>Crucially, an uncertain movement receives no numerical score. In our pipeline, when movement heuristics or classifiers indicate uncertainty (or deferred movements like Scissor Jump or Split Step), the score is reported as N/A and category as UNASSESSED. Zero risk is never substituted for missing or uncertain evidence, and no score is fabricated.</a:t>
            </a:r>
          </a:p>
          <a:p/>
          <a:p>
            <a:r>
              <a:t>We benchmarked and verified this scoring implementation on our actual test clips:</a:t>
            </a:r>
          </a:p>
          <a:p>
            <a:r>
              <a:t>- Verified smash example: 12.6/100, LOW from 'test_smash_movement1.mp4', where knee contribution is 0.0 points, torso-lean contribution is 0.0 points, and asymmetry contribution is 12.6 points.</a:t>
            </a:r>
          </a:p>
          <a:p>
            <a:r>
              <a:t>- Verified lunge example: 25.0/100, LOW from 'cand_006_LUNGE', where knee contribution is 0.0 points, torso-lean contribution is 25.0 points (torso lean 36.4 degrees), and asymmetry contribution is 0.0 points.</a:t>
            </a:r>
          </a:p>
          <a:p>
            <a:r>
              <a:t>- Uncertain movement example: 'cand_014_UNCERTAIN' yields Score: N/A, UNASSESSED, correctly receiving no numerical score.</a:t>
            </a:r>
          </a:p>
          <a:p/>
          <a:p>
            <a:r>
              <a:t>Finally, we make an explicit scientific statement: the score measures biomechanical screening indicators, not the probability of injury, and its weights and category boundaries have not been clinically validated. A score of 60 indicates higher kinematic deviation from textbook athletic form, not a 60% probability of an acute injury. It serves as a transparent engineering prototype for technique screening and athlete feedback, not a clinical diagnostic instrument.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highlights our interactive Streamlit application running live on port 18502, validated across three distinct test cases.</a:t>
            </a:r>
          </a:p>
          <a:p/>
          <a:p>
            <a:r>
              <a:t>In Case 1, an overhead jump smash in 'test_smash_movement1' processes in 6.2 seconds. The model predicts SMASH_LANDING at 65.9% confidence, overriding an ambiguous detector proposal. The system isolates the landing keyframe and displays a verified smash example score of 12.6/100, LOW, with points accrued only from moderate landing asymmetry (27.7 degrees).</a:t>
            </a:r>
          </a:p>
          <a:p/>
          <a:p>
            <a:r>
              <a:t>In Case 2, a forward net lunge in 'cand_006_LUNGE' processes in 3.1 seconds. Detector and classifier achieve complete consensus: LUNGE at 94.1% probability. Our keyframe selection algorithm isolated frame 23 at 0.44 seconds—capturing peak plant depth. The risk engine outputs a verified lunge example score of 25.0/100, LOW, correctly flagging forward torso-lean contribution of 25.0 points from 36.4 degrees trunk inclination.</a:t>
            </a:r>
          </a:p>
          <a:p/>
          <a:p>
            <a:r>
              <a:t>In Case 3, we demonstrate our system's most crucial safety feature: Uncertainty Safeguards. In 'cand_014', an athlete executes ambiguous transitional footwork. Although the ML model suggests Change of Direction at 63.6%, our system recognizes that detector evidence was inconclusive. It deliberately refuses to override detector uncertainty: the final label remains UNCERTAIN, and the risk status safely defaults to UNASSESSED with NO numerical score (Score: N/A). An uncertain movement receives no numerical score, ensuring the system will never hallucinate predictions or scores when visual evidence is insufficient.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on Slide 12, we summarize our technical limitations, future roadmap, and project contributions.</a:t>
            </a:r>
          </a:p>
          <a:p/>
          <a:p>
            <a:r>
              <a:t>We acknowledge four primary engineering limitations:</a:t>
            </a:r>
          </a:p>
          <a:p>
            <a:r>
              <a:t>First, monocular 2D video inherently suffers from perspective foreshortening. </a:t>
            </a:r>
          </a:p>
          <a:p>
            <a:r>
              <a:t>Second, severe athletic lunges cause anatomical self-occlusion. </a:t>
            </a:r>
          </a:p>
          <a:p>
            <a:r>
              <a:t>Third, our current dataset is derived from six athletes, meaning broader cross-demographic testing is required before real-world deployment.</a:t>
            </a:r>
          </a:p>
          <a:p>
            <a:r>
              <a:t>Fourth, our numerical risk scoring formula represents a provisional engineering heuristic that requires prospective clinical validation.</a:t>
            </a:r>
          </a:p>
          <a:p/>
          <a:p>
            <a:r>
              <a:t>For future work, our roadmap focuses on multi-view camera synchronization, high-speed 120 FPS capture to eliminate swing blur, and prospective sports medicine clinical collaborations to empirically calibrate risk thresholds.</a:t>
            </a:r>
          </a:p>
          <a:p/>
          <a:p>
            <a:r>
              <a:t>To conclude: this capstone project successfully demonstrates an end-to-end, non-invasive computer vision pipeline for badminton posture analysis. We achieved an honest 62.1% accuracy under strict Player-Grouped cross-validation without data leakage, engineered lower-body quality decoupling, implemented a deterministic 0-100 biomechanical screening score with clear Low/Moderate/High bands, and built rigorous uncertainty safeguards that prevent false clinical claims.</a:t>
            </a:r>
          </a:p>
          <a:p/>
          <a:p>
            <a:r>
              <a:t>Thank you for your time, and I am now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94360"/>
            <a:ext cx="10728655" cy="1920240"/>
          </a:xfrm>
          <a:prstGeom prst="rect">
            <a:avLst/>
          </a:prstGeom>
          <a:noFill/>
        </p:spPr>
        <p:txBody>
          <a:bodyPr wrap="square" lIns="0" tIns="0" rIns="0" bIns="0">
            <a:spAutoFit/>
          </a:bodyPr>
          <a:lstStyle/>
          <a:p>
            <a:pPr>
              <a:spcAft>
                <a:spcPts val="400"/>
              </a:spcAft>
              <a:defRPr sz="1100" b="1">
                <a:solidFill>
                  <a:srgbClr val="38BDF8"/>
                </a:solidFill>
              </a:defRPr>
            </a:pPr>
            <a:r>
              <a:t>B.TECH CAPSTONE PROJECT | FINAL VIVA VOCE EXAMINATION</a:t>
            </a:r>
          </a:p>
          <a:p>
            <a:pPr>
              <a:spcAft>
                <a:spcPts val="600"/>
              </a:spcAft>
              <a:defRPr sz="2700" b="1">
                <a:solidFill>
                  <a:srgbClr val="FFFFFF"/>
                </a:solidFill>
              </a:defRPr>
            </a:pPr>
            <a:r>
              <a:t>Badminton Posture Detection and Injury Risk</a:t>
            </a:r>
            <a:br/>
            <a:r>
              <a:t>Assessment Using Machine Learning</a:t>
            </a:r>
          </a:p>
          <a:p>
            <a:pPr>
              <a:defRPr sz="1300">
                <a:solidFill>
                  <a:srgbClr val="2DD4BF"/>
                </a:solidFill>
              </a:defRPr>
            </a:pPr>
            <a:r>
              <a:t>An Automated, Non-Invasive Computer-Vision &amp; Biomechanical Framework for Athletic Movement Screening</a:t>
            </a:r>
          </a:p>
        </p:txBody>
      </p:sp>
      <p:sp>
        <p:nvSpPr>
          <p:cNvPr id="5" name="Rounded Rectangle 4"/>
          <p:cNvSpPr/>
          <p:nvPr/>
        </p:nvSpPr>
        <p:spPr>
          <a:xfrm>
            <a:off x="731520" y="2651760"/>
            <a:ext cx="3337560"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38BDF8"/>
                </a:solidFill>
              </a:defRPr>
            </a:pPr>
            <a:r>
              <a:t>👤 Candidate Details</a:t>
            </a:r>
          </a:p>
          <a:p>
            <a:pPr>
              <a:spcAft>
                <a:spcPts val="400"/>
              </a:spcAft>
            </a:pPr>
            <a:r>
              <a:rPr b="1" sz="1050">
                <a:solidFill>
                  <a:srgbClr val="FFFFFF"/>
                </a:solidFill>
              </a:rPr>
              <a:t>• Candidate: </a:t>
            </a:r>
            <a:r>
              <a:rPr b="0" sz="1050">
                <a:solidFill>
                  <a:srgbClr val="E2E8F0"/>
                </a:solidFill>
              </a:rPr>
              <a:t>Pavan H S [Confirmed]</a:t>
            </a:r>
          </a:p>
          <a:p>
            <a:pPr>
              <a:spcAft>
                <a:spcPts val="400"/>
              </a:spcAft>
            </a:pPr>
            <a:r>
              <a:rPr b="1" sz="1050">
                <a:solidFill>
                  <a:srgbClr val="FFFFFF"/>
                </a:solidFill>
              </a:rPr>
              <a:t>• Degree: </a:t>
            </a:r>
            <a:r>
              <a:rPr b="0" sz="1050">
                <a:solidFill>
                  <a:srgbClr val="E2E8F0"/>
                </a:solidFill>
              </a:rPr>
              <a:t>Bachelor of Technology (B.Tech)</a:t>
            </a:r>
          </a:p>
          <a:p>
            <a:pPr>
              <a:spcAft>
                <a:spcPts val="400"/>
              </a:spcAft>
            </a:pPr>
            <a:r>
              <a:rPr b="1" sz="1050">
                <a:solidFill>
                  <a:srgbClr val="FFFFFF"/>
                </a:solidFill>
              </a:rPr>
              <a:t>• USN / Roll No: </a:t>
            </a:r>
            <a:r>
              <a:rPr b="0" sz="1050">
                <a:solidFill>
                  <a:srgbClr val="E2E8F0"/>
                </a:solidFill>
              </a:rPr>
              <a:t>[USN / Roll No: To Confirm]</a:t>
            </a:r>
          </a:p>
          <a:p>
            <a:pPr>
              <a:spcAft>
                <a:spcPts val="400"/>
              </a:spcAft>
            </a:pPr>
            <a:r>
              <a:rPr b="1" sz="1050">
                <a:solidFill>
                  <a:srgbClr val="FFFFFF"/>
                </a:solidFill>
              </a:rPr>
              <a:t>• Discipline: </a:t>
            </a:r>
            <a:r>
              <a:rPr b="0" sz="1050">
                <a:solidFill>
                  <a:srgbClr val="E2E8F0"/>
                </a:solidFill>
              </a:rPr>
              <a:t>Computer Science &amp; Engineering [To Confirm]</a:t>
            </a:r>
          </a:p>
          <a:p>
            <a:pPr>
              <a:spcAft>
                <a:spcPts val="400"/>
              </a:spcAft>
            </a:pPr>
            <a:r>
              <a:rPr b="1" sz="1050">
                <a:solidFill>
                  <a:srgbClr val="FFFFFF"/>
                </a:solidFill>
              </a:rPr>
              <a:t>• Academic Year: </a:t>
            </a:r>
            <a:r>
              <a:rPr b="0" sz="1050">
                <a:solidFill>
                  <a:srgbClr val="E2E8F0"/>
                </a:solidFill>
              </a:rPr>
              <a:t>2025 – 2026</a:t>
            </a:r>
          </a:p>
        </p:txBody>
      </p:sp>
      <p:sp>
        <p:nvSpPr>
          <p:cNvPr id="6" name="Rounded Rectangle 5"/>
          <p:cNvSpPr/>
          <p:nvPr/>
        </p:nvSpPr>
        <p:spPr>
          <a:xfrm>
            <a:off x="4389120" y="2651760"/>
            <a:ext cx="3337560"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2DD4BF"/>
                </a:solidFill>
              </a:defRPr>
            </a:pPr>
            <a:r>
              <a:t>🏛️ Academic Advisory</a:t>
            </a:r>
          </a:p>
          <a:p>
            <a:pPr>
              <a:spcAft>
                <a:spcPts val="400"/>
              </a:spcAft>
            </a:pPr>
            <a:r>
              <a:rPr b="1" sz="1050">
                <a:solidFill>
                  <a:srgbClr val="FFFFFF"/>
                </a:solidFill>
              </a:rPr>
              <a:t>• Internal Guide: </a:t>
            </a:r>
            <a:r>
              <a:rPr b="0" sz="1050">
                <a:solidFill>
                  <a:srgbClr val="E2E8F0"/>
                </a:solidFill>
              </a:rPr>
              <a:t>[Project Guide Name: To Confirm]</a:t>
            </a:r>
          </a:p>
          <a:p>
            <a:pPr>
              <a:spcAft>
                <a:spcPts val="400"/>
              </a:spcAft>
            </a:pPr>
            <a:r>
              <a:rPr b="1" sz="1050">
                <a:solidFill>
                  <a:srgbClr val="FFFFFF"/>
                </a:solidFill>
              </a:rPr>
              <a:t>• Head of Dept: </a:t>
            </a:r>
            <a:r>
              <a:rPr b="0" sz="1050">
                <a:solidFill>
                  <a:srgbClr val="E2E8F0"/>
                </a:solidFill>
              </a:rPr>
              <a:t>[HOD Name: To Confirm]</a:t>
            </a:r>
          </a:p>
          <a:p>
            <a:pPr>
              <a:spcAft>
                <a:spcPts val="400"/>
              </a:spcAft>
            </a:pPr>
            <a:r>
              <a:rPr b="1" sz="1050">
                <a:solidFill>
                  <a:srgbClr val="FFFFFF"/>
                </a:solidFill>
              </a:rPr>
              <a:t>• Department: </a:t>
            </a:r>
            <a:r>
              <a:rPr b="0" sz="1050">
                <a:solidFill>
                  <a:srgbClr val="E2E8F0"/>
                </a:solidFill>
              </a:rPr>
              <a:t>Dept. of Computer Science &amp; Engineering</a:t>
            </a:r>
          </a:p>
          <a:p>
            <a:pPr>
              <a:spcAft>
                <a:spcPts val="400"/>
              </a:spcAft>
            </a:pPr>
            <a:r>
              <a:rPr b="1" sz="1050">
                <a:solidFill>
                  <a:srgbClr val="FFFFFF"/>
                </a:solidFill>
              </a:rPr>
              <a:t>• Institution: </a:t>
            </a:r>
            <a:r>
              <a:rPr b="0" sz="1050">
                <a:solidFill>
                  <a:srgbClr val="E2E8F0"/>
                </a:solidFill>
              </a:rPr>
              <a:t>[College / University Name: To Confirm]</a:t>
            </a:r>
          </a:p>
          <a:p>
            <a:pPr>
              <a:spcAft>
                <a:spcPts val="400"/>
              </a:spcAft>
            </a:pPr>
            <a:r>
              <a:rPr b="1" sz="1050">
                <a:solidFill>
                  <a:srgbClr val="FFFFFF"/>
                </a:solidFill>
              </a:rPr>
              <a:t>• Date: </a:t>
            </a:r>
            <a:r>
              <a:rPr b="0" sz="1050">
                <a:solidFill>
                  <a:srgbClr val="E2E8F0"/>
                </a:solidFill>
              </a:rPr>
              <a:t>October 2026</a:t>
            </a:r>
          </a:p>
        </p:txBody>
      </p:sp>
      <p:sp>
        <p:nvSpPr>
          <p:cNvPr id="7" name="Rounded Rectangle 6"/>
          <p:cNvSpPr/>
          <p:nvPr/>
        </p:nvSpPr>
        <p:spPr>
          <a:xfrm>
            <a:off x="8046720" y="2651760"/>
            <a:ext cx="3413455" cy="2926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F59E0B"/>
                </a:solidFill>
              </a:defRPr>
            </a:pPr>
            <a:r>
              <a:t>⚙️ System Summary</a:t>
            </a:r>
          </a:p>
          <a:p>
            <a:pPr>
              <a:spcAft>
                <a:spcPts val="400"/>
              </a:spcAft>
            </a:pPr>
            <a:r>
              <a:rPr b="1" sz="1050">
                <a:solidFill>
                  <a:srgbClr val="FFFFFF"/>
                </a:solidFill>
              </a:rPr>
              <a:t>• Pose Core: </a:t>
            </a:r>
            <a:r>
              <a:rPr b="0" sz="1050">
                <a:solidFill>
                  <a:srgbClr val="E2E8F0"/>
                </a:solidFill>
              </a:rPr>
              <a:t>Google MediaPipe (33 3D Landmarks)</a:t>
            </a:r>
          </a:p>
          <a:p>
            <a:pPr>
              <a:spcAft>
                <a:spcPts val="400"/>
              </a:spcAft>
            </a:pPr>
            <a:r>
              <a:rPr b="1" sz="1050">
                <a:solidFill>
                  <a:srgbClr val="FFFFFF"/>
                </a:solidFill>
              </a:rPr>
              <a:t>• Movement Model: </a:t>
            </a:r>
            <a:r>
              <a:rPr b="0" sz="1050">
                <a:solidFill>
                  <a:srgbClr val="E2E8F0"/>
                </a:solidFill>
              </a:rPr>
              <a:t>Random Forest (161 Reviewed Events)</a:t>
            </a:r>
          </a:p>
          <a:p>
            <a:pPr>
              <a:spcAft>
                <a:spcPts val="400"/>
              </a:spcAft>
            </a:pPr>
            <a:r>
              <a:rPr b="1" sz="1050">
                <a:solidFill>
                  <a:srgbClr val="FFFFFF"/>
                </a:solidFill>
              </a:rPr>
              <a:t>• Validation: </a:t>
            </a:r>
            <a:r>
              <a:rPr b="0" sz="1050">
                <a:solidFill>
                  <a:srgbClr val="E2E8F0"/>
                </a:solidFill>
              </a:rPr>
              <a:t>3-Fold Player-Grouped CV (F1: 0.576, Acc: 0.621)</a:t>
            </a:r>
          </a:p>
          <a:p>
            <a:pPr>
              <a:spcAft>
                <a:spcPts val="400"/>
              </a:spcAft>
            </a:pPr>
            <a:r>
              <a:rPr b="1" sz="1050">
                <a:solidFill>
                  <a:srgbClr val="FFFFFF"/>
                </a:solidFill>
              </a:rPr>
              <a:t>• Risk Framework: </a:t>
            </a:r>
            <a:r>
              <a:rPr b="0" sz="1050">
                <a:solidFill>
                  <a:srgbClr val="E2E8F0"/>
                </a:solidFill>
              </a:rPr>
              <a:t>Rubric v0.3 (Numerical Screening Score 0–100)</a:t>
            </a:r>
          </a:p>
          <a:p>
            <a:pPr>
              <a:spcAft>
                <a:spcPts val="400"/>
              </a:spcAft>
            </a:pPr>
            <a:r>
              <a:rPr b="1" sz="1050">
                <a:solidFill>
                  <a:srgbClr val="FFFFFF"/>
                </a:solidFill>
              </a:rPr>
              <a:t>• Deployment: </a:t>
            </a:r>
            <a:r>
              <a:rPr b="0" sz="1050">
                <a:solidFill>
                  <a:srgbClr val="E2E8F0"/>
                </a:solidFill>
              </a:rPr>
              <a:t>Streamlit Dashboard + SQLite Audit Log</a:t>
            </a:r>
          </a:p>
        </p:txBody>
      </p:sp>
      <p:sp>
        <p:nvSpPr>
          <p:cNvPr id="8" name="Rounded Rectangle 7"/>
          <p:cNvSpPr/>
          <p:nvPr/>
        </p:nvSpPr>
        <p:spPr>
          <a:xfrm>
            <a:off x="731520" y="5760720"/>
            <a:ext cx="10728655" cy="621792"/>
          </a:xfrm>
          <a:prstGeom prst="roundRect">
            <a:avLst/>
          </a:prstGeom>
          <a:solidFill>
            <a:srgbClr val="18223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ctr">
              <a:defRPr sz="950">
                <a:solidFill>
                  <a:srgbClr val="E2E8F0"/>
                </a:solidFill>
              </a:defRPr>
            </a:pPr>
            <a:r>
              <a:t>⚠️ Research Prototype Disclaimer: This system provides non-invasive biomechanical athletic screening based on sports science literature. It is an engineering prototype and does NOT provide certified clinical medical diagnoses or guarantee injury prevention.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51560"/>
          </a:xfrm>
          <a:prstGeom prst="rect">
            <a:avLst/>
          </a:prstGeom>
          <a:noFill/>
        </p:spPr>
        <p:txBody>
          <a:bodyPr wrap="square" lIns="0" tIns="0" rIns="0" bIns="0">
            <a:spAutoFit/>
          </a:bodyPr>
          <a:lstStyle/>
          <a:p>
            <a:pPr>
              <a:spcAft>
                <a:spcPts val="200"/>
              </a:spcAft>
              <a:defRPr sz="1000" b="1">
                <a:solidFill>
                  <a:srgbClr val="38BDF8"/>
                </a:solidFill>
              </a:defRPr>
            </a:pPr>
            <a:r>
              <a:t>BACKGROUND &amp; CLINICAL NEED</a:t>
            </a:r>
          </a:p>
          <a:p>
            <a:pPr>
              <a:spcAft>
                <a:spcPts val="200"/>
              </a:spcAft>
              <a:defRPr sz="2100" b="1">
                <a:solidFill>
                  <a:srgbClr val="FFFFFF"/>
                </a:solidFill>
              </a:defRPr>
            </a:pPr>
            <a:r>
              <a:t>The Biomechanical Challenge in High-Speed Racket Sports</a:t>
            </a:r>
          </a:p>
          <a:p>
            <a:pPr>
              <a:defRPr sz="1100">
                <a:solidFill>
                  <a:srgbClr val="94A3B8"/>
                </a:solidFill>
              </a:defRPr>
            </a:pPr>
            <a:r>
              <a:t>Severe deceleration loads, high non-contact injury rates, and the accessibility barrier of modern motion analysis.</a:t>
            </a:r>
          </a:p>
        </p:txBody>
      </p:sp>
      <p:sp>
        <p:nvSpPr>
          <p:cNvPr id="5" name="Rectangle 4"/>
          <p:cNvSpPr/>
          <p:nvPr/>
        </p:nvSpPr>
        <p:spPr>
          <a:xfrm>
            <a:off x="731520" y="641908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64808"/>
            <a:ext cx="4572000" cy="292608"/>
          </a:xfrm>
          <a:prstGeom prst="rect">
            <a:avLst/>
          </a:prstGeom>
          <a:noFill/>
        </p:spPr>
        <p:txBody>
          <a:bodyPr wrap="none" lIns="0" tIns="0" rIns="0" bIns="0">
            <a:spAutoFit/>
          </a:bodyPr>
          <a:lstStyle/>
          <a:p>
            <a:pPr>
              <a:defRPr sz="950">
                <a:solidFill>
                  <a:srgbClr val="94A3B8"/>
                </a:solidFill>
              </a:defRPr>
            </a:pPr>
            <a:r>
              <a:t>Badminton Posture AI | Final B.Tech Capstone Defense</a:t>
            </a:r>
          </a:p>
        </p:txBody>
      </p:sp>
      <p:sp>
        <p:nvSpPr>
          <p:cNvPr id="7" name="TextBox 6"/>
          <p:cNvSpPr txBox="1"/>
          <p:nvPr/>
        </p:nvSpPr>
        <p:spPr>
          <a:xfrm>
            <a:off x="4114800" y="6464808"/>
            <a:ext cx="5029200" cy="292608"/>
          </a:xfrm>
          <a:prstGeom prst="rect">
            <a:avLst/>
          </a:prstGeom>
          <a:noFill/>
        </p:spPr>
        <p:txBody>
          <a:bodyPr wrap="none" lIns="0" tIns="0" rIns="0" bIns="0">
            <a:spAutoFit/>
          </a:bodyPr>
          <a:lstStyle/>
          <a:p>
            <a:pPr algn="ctr">
              <a:defRPr sz="900">
                <a:solidFill>
                  <a:srgbClr val="F59E0B"/>
                </a:solidFill>
              </a:defRPr>
            </a:pPr>
            <a:r>
              <a:t>⚠️ Research Prototype — Observational Screening Score (Not Clinical Diagnosis)</a:t>
            </a:r>
          </a:p>
        </p:txBody>
      </p:sp>
      <p:sp>
        <p:nvSpPr>
          <p:cNvPr id="8" name="TextBox 7"/>
          <p:cNvSpPr txBox="1"/>
          <p:nvPr/>
        </p:nvSpPr>
        <p:spPr>
          <a:xfrm>
            <a:off x="9601200" y="6464808"/>
            <a:ext cx="1858975" cy="292608"/>
          </a:xfrm>
          <a:prstGeom prst="rect">
            <a:avLst/>
          </a:prstGeom>
          <a:noFill/>
        </p:spPr>
        <p:txBody>
          <a:bodyPr wrap="none" lIns="0" tIns="0" rIns="0" bIns="0">
            <a:spAutoFit/>
          </a:bodyPr>
          <a:lstStyle/>
          <a:p>
            <a:pPr algn="r">
              <a:defRPr sz="950" b="1">
                <a:solidFill>
                  <a:srgbClr val="38BDF8"/>
                </a:solidFill>
              </a:defRPr>
            </a:pPr>
            <a:r>
              <a:t>Slide 2 of 12</a:t>
            </a:r>
          </a:p>
        </p:txBody>
      </p:sp>
      <p:sp>
        <p:nvSpPr>
          <p:cNvPr id="9" name="Rounded Rectangle 8"/>
          <p:cNvSpPr/>
          <p:nvPr/>
        </p:nvSpPr>
        <p:spPr>
          <a:xfrm>
            <a:off x="731520" y="1508760"/>
            <a:ext cx="3337560" cy="3337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38BDF8"/>
                </a:solidFill>
              </a:defRPr>
            </a:pPr>
            <a:r>
              <a:t>⚡ High-Deceleration Trauma</a:t>
            </a:r>
          </a:p>
          <a:p>
            <a:pPr>
              <a:spcAft>
                <a:spcPts val="400"/>
              </a:spcAft>
            </a:pPr>
            <a:r>
              <a:rPr b="1" sz="1050">
                <a:solidFill>
                  <a:srgbClr val="FFFFFF"/>
                </a:solidFill>
              </a:rPr>
              <a:t>• Extreme Impact Loading: </a:t>
            </a:r>
            <a:r>
              <a:rPr b="0" sz="1050">
                <a:solidFill>
                  <a:srgbClr val="E2E8F0"/>
                </a:solidFill>
              </a:rPr>
              <a:t>Deceleration forces during lunges and jump landings exceed 2.5–3.0× body weight.</a:t>
            </a:r>
          </a:p>
          <a:p>
            <a:pPr>
              <a:spcAft>
                <a:spcPts val="400"/>
              </a:spcAft>
            </a:pPr>
            <a:r>
              <a:rPr b="1" sz="1050">
                <a:solidFill>
                  <a:srgbClr val="FFFFFF"/>
                </a:solidFill>
              </a:rPr>
              <a:t>• Non-Contact Injuries: </a:t>
            </a:r>
            <a:r>
              <a:rPr b="0" sz="1050">
                <a:solidFill>
                  <a:srgbClr val="E2E8F0"/>
                </a:solidFill>
              </a:rPr>
              <a:t>High clinical incidence of ACL tears, patellar tendinopathy ('jumper's knee'), and ankle sprains.</a:t>
            </a:r>
          </a:p>
          <a:p>
            <a:pPr>
              <a:spcAft>
                <a:spcPts val="400"/>
              </a:spcAft>
            </a:pPr>
            <a:r>
              <a:rPr b="1" sz="1050">
                <a:solidFill>
                  <a:srgbClr val="FFFFFF"/>
                </a:solidFill>
              </a:rPr>
              <a:t>• Rapid Reaction Windows: </a:t>
            </a:r>
            <a:r>
              <a:rPr b="0" sz="1050">
                <a:solidFill>
                  <a:srgbClr val="E2E8F0"/>
                </a:solidFill>
              </a:rPr>
              <a:t>Ball speeds exceed 300 km/h; players have &lt;300 ms reaction windows, leaving minimal margin for mechanical error.</a:t>
            </a:r>
          </a:p>
          <a:p>
            <a:pPr>
              <a:spcAft>
                <a:spcPts val="400"/>
              </a:spcAft>
            </a:pPr>
            <a:r>
              <a:rPr b="1" sz="1050">
                <a:solidFill>
                  <a:srgbClr val="FFFFFF"/>
                </a:solidFill>
              </a:rPr>
              <a:t>• Repetitive Strain: </a:t>
            </a:r>
            <a:r>
              <a:rPr b="0" sz="1050">
                <a:solidFill>
                  <a:srgbClr val="E2E8F0"/>
                </a:solidFill>
              </a:rPr>
              <a:t>Hundreds of explosive changes of direction per match cause cumulative joint fatigue.</a:t>
            </a:r>
          </a:p>
        </p:txBody>
      </p:sp>
      <p:sp>
        <p:nvSpPr>
          <p:cNvPr id="10" name="Rounded Rectangle 9"/>
          <p:cNvSpPr/>
          <p:nvPr/>
        </p:nvSpPr>
        <p:spPr>
          <a:xfrm>
            <a:off x="4389120" y="1508760"/>
            <a:ext cx="3337560" cy="3337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F59E0B"/>
                </a:solidFill>
              </a:defRPr>
            </a:pPr>
            <a:r>
              <a:t>🔬 Existing Lab Bottlenecks</a:t>
            </a:r>
          </a:p>
          <a:p>
            <a:pPr>
              <a:spcAft>
                <a:spcPts val="400"/>
              </a:spcAft>
            </a:pPr>
            <a:r>
              <a:rPr b="1" sz="1050">
                <a:solidFill>
                  <a:srgbClr val="FFFFFF"/>
                </a:solidFill>
              </a:rPr>
              <a:t>• Optical MoCap (Vicon/Qualisys): </a:t>
            </a:r>
            <a:r>
              <a:rPr b="0" sz="1050">
                <a:solidFill>
                  <a:srgbClr val="E2E8F0"/>
                </a:solidFill>
              </a:rPr>
              <a:t>Gold standard, but costs $50,000+, requires dedicated multi-camera rooms, and needs retro-reflective skin markers.</a:t>
            </a:r>
          </a:p>
          <a:p>
            <a:pPr>
              <a:spcAft>
                <a:spcPts val="400"/>
              </a:spcAft>
            </a:pPr>
            <a:r>
              <a:rPr b="1" sz="1050">
                <a:solidFill>
                  <a:srgbClr val="FFFFFF"/>
                </a:solidFill>
              </a:rPr>
              <a:t>• Wearable Sensors (IMUs): </a:t>
            </a:r>
            <a:r>
              <a:rPr b="0" sz="1050">
                <a:solidFill>
                  <a:srgbClr val="E2E8F0"/>
                </a:solidFill>
              </a:rPr>
              <a:t>Intrusive, alters natural racket swing mechanics, causes discomfort, and suffers from severe shock-induced sensor drift.</a:t>
            </a:r>
          </a:p>
          <a:p>
            <a:pPr>
              <a:spcAft>
                <a:spcPts val="400"/>
              </a:spcAft>
            </a:pPr>
            <a:r>
              <a:rPr b="1" sz="1050">
                <a:solidFill>
                  <a:srgbClr val="FFFFFF"/>
                </a:solidFill>
              </a:rPr>
              <a:t>• Grassroots Exclusion: </a:t>
            </a:r>
            <a:r>
              <a:rPr b="0" sz="1050">
                <a:solidFill>
                  <a:srgbClr val="E2E8F0"/>
                </a:solidFill>
              </a:rPr>
              <a:t>Elite biomechanical motion screening remains locked inside specialized research universities and Olympic centers.</a:t>
            </a:r>
          </a:p>
        </p:txBody>
      </p:sp>
      <p:sp>
        <p:nvSpPr>
          <p:cNvPr id="11" name="Rounded Rectangle 10"/>
          <p:cNvSpPr/>
          <p:nvPr/>
        </p:nvSpPr>
        <p:spPr>
          <a:xfrm>
            <a:off x="8046720" y="1508760"/>
            <a:ext cx="3413455" cy="3337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10B981"/>
                </a:solidFill>
              </a:defRPr>
            </a:pPr>
            <a:r>
              <a:t>💡 Computer Vision Opportunity</a:t>
            </a:r>
          </a:p>
          <a:p>
            <a:pPr>
              <a:spcAft>
                <a:spcPts val="400"/>
              </a:spcAft>
            </a:pPr>
            <a:r>
              <a:rPr b="1" sz="1050">
                <a:solidFill>
                  <a:srgbClr val="FFFFFF"/>
                </a:solidFill>
              </a:rPr>
              <a:t>• Monocular 2D Video: </a:t>
            </a:r>
            <a:r>
              <a:rPr b="0" sz="1050">
                <a:solidFill>
                  <a:srgbClr val="E2E8F0"/>
                </a:solidFill>
              </a:rPr>
              <a:t>Leverages standard lateral smartphone or court-side broadcast cameras without special hardware.</a:t>
            </a:r>
          </a:p>
          <a:p>
            <a:pPr>
              <a:spcAft>
                <a:spcPts val="400"/>
              </a:spcAft>
            </a:pPr>
            <a:r>
              <a:rPr b="1" sz="1050">
                <a:solidFill>
                  <a:srgbClr val="FFFFFF"/>
                </a:solidFill>
              </a:rPr>
              <a:t>• 100% Non-Invasive: </a:t>
            </a:r>
            <a:r>
              <a:rPr b="0" sz="1050">
                <a:solidFill>
                  <a:srgbClr val="E2E8F0"/>
                </a:solidFill>
              </a:rPr>
              <a:t>Requires zero markers, zero wearable devices, and zero interference with athlete performance.</a:t>
            </a:r>
          </a:p>
          <a:p>
            <a:pPr>
              <a:spcAft>
                <a:spcPts val="400"/>
              </a:spcAft>
            </a:pPr>
            <a:r>
              <a:rPr b="1" sz="1050">
                <a:solidFill>
                  <a:srgbClr val="FFFFFF"/>
                </a:solidFill>
              </a:rPr>
              <a:t>• Automated Screening: </a:t>
            </a:r>
            <a:r>
              <a:rPr b="0" sz="1050">
                <a:solidFill>
                  <a:srgbClr val="E2E8F0"/>
                </a:solidFill>
              </a:rPr>
              <a:t>Extracts 3D pose, localizes critical plant keyframes, classifies movement actions, and screens postural risk indicators.</a:t>
            </a:r>
          </a:p>
          <a:p>
            <a:pPr>
              <a:spcAft>
                <a:spcPts val="400"/>
              </a:spcAft>
            </a:pPr>
            <a:r>
              <a:rPr b="1" sz="1050">
                <a:solidFill>
                  <a:srgbClr val="FFFFFF"/>
                </a:solidFill>
              </a:rPr>
              <a:t>• Accessible AI: </a:t>
            </a:r>
            <a:r>
              <a:rPr b="0" sz="1050">
                <a:solidFill>
                  <a:srgbClr val="E2E8F0"/>
                </a:solidFill>
              </a:rPr>
              <a:t>Brings elite sports medicine posture screening to club and academy players.</a:t>
            </a:r>
          </a:p>
        </p:txBody>
      </p:sp>
      <p:sp>
        <p:nvSpPr>
          <p:cNvPr id="12" name="Rounded Rectangle 11"/>
          <p:cNvSpPr/>
          <p:nvPr/>
        </p:nvSpPr>
        <p:spPr>
          <a:xfrm>
            <a:off x="731520" y="5029200"/>
            <a:ext cx="10728655" cy="1188720"/>
          </a:xfrm>
          <a:prstGeom prst="roundRect">
            <a:avLst/>
          </a:prstGeom>
          <a:solidFill>
            <a:srgbClr val="1822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2DD4BF"/>
                </a:solidFill>
              </a:defRPr>
            </a:pPr>
            <a:r>
              <a:t>🔄 The Paradigm Shift in Athletic Motion Analysis</a:t>
            </a:r>
          </a:p>
          <a:p>
            <a:pPr>
              <a:spcAft>
                <a:spcPts val="400"/>
              </a:spcAft>
            </a:pPr>
            <a:r>
              <a:rPr b="1" sz="1050">
                <a:solidFill>
                  <a:srgbClr val="F59E0B"/>
                </a:solidFill>
              </a:rPr>
              <a:t>• Traditional Paradigm: </a:t>
            </a:r>
            <a:r>
              <a:rPr b="0" sz="1050">
                <a:solidFill>
                  <a:srgbClr val="E2E8F0"/>
                </a:solidFill>
              </a:rPr>
              <a:t>Expensive Laboratory Marker MoCap ($50k+, restrictive markers, artificial lab environments, high setup overhead).</a:t>
            </a:r>
          </a:p>
          <a:p>
            <a:pPr>
              <a:spcAft>
                <a:spcPts val="400"/>
              </a:spcAft>
            </a:pPr>
            <a:r>
              <a:rPr b="1" sz="1050">
                <a:solidFill>
                  <a:srgbClr val="10B981"/>
                </a:solidFill>
              </a:rPr>
              <a:t>• Proposed Vision AI Paradigm: </a:t>
            </a:r>
            <a:r>
              <a:rPr b="0" sz="1050">
                <a:solidFill>
                  <a:srgbClr val="E2E8F0"/>
                </a:solidFill>
              </a:rPr>
              <a:t>Accessible Monocular Pose Estimation + Biomechanical Machine Learning (markerless, natural match video, automated posture screening).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51560"/>
          </a:xfrm>
          <a:prstGeom prst="rect">
            <a:avLst/>
          </a:prstGeom>
          <a:noFill/>
        </p:spPr>
        <p:txBody>
          <a:bodyPr wrap="square" lIns="0" tIns="0" rIns="0" bIns="0">
            <a:spAutoFit/>
          </a:bodyPr>
          <a:lstStyle/>
          <a:p>
            <a:pPr>
              <a:spcAft>
                <a:spcPts val="200"/>
              </a:spcAft>
              <a:defRPr sz="1000" b="1">
                <a:solidFill>
                  <a:srgbClr val="38BDF8"/>
                </a:solidFill>
              </a:defRPr>
            </a:pPr>
            <a:r>
              <a:t>PROJECT SCOPE &amp; BOUNDARIES</a:t>
            </a:r>
          </a:p>
          <a:p>
            <a:pPr>
              <a:spcAft>
                <a:spcPts val="200"/>
              </a:spcAft>
              <a:defRPr sz="2100" b="1">
                <a:solidFill>
                  <a:srgbClr val="FFFFFF"/>
                </a:solidFill>
              </a:defRPr>
            </a:pPr>
            <a:r>
              <a:t>Technical Objectives &amp; Explicit Scope Boundaries</a:t>
            </a:r>
          </a:p>
          <a:p>
            <a:pPr>
              <a:defRPr sz="1100">
                <a:solidFill>
                  <a:srgbClr val="94A3B8"/>
                </a:solidFill>
              </a:defRPr>
            </a:pPr>
            <a:r>
              <a:t>Defining tangible engineering deliverables and maintaining strict scientific boundaries between CV and clinical medicine.</a:t>
            </a:r>
          </a:p>
        </p:txBody>
      </p:sp>
      <p:sp>
        <p:nvSpPr>
          <p:cNvPr id="5" name="Rectangle 4"/>
          <p:cNvSpPr/>
          <p:nvPr/>
        </p:nvSpPr>
        <p:spPr>
          <a:xfrm>
            <a:off x="731520" y="641908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64808"/>
            <a:ext cx="4572000" cy="292608"/>
          </a:xfrm>
          <a:prstGeom prst="rect">
            <a:avLst/>
          </a:prstGeom>
          <a:noFill/>
        </p:spPr>
        <p:txBody>
          <a:bodyPr wrap="none" lIns="0" tIns="0" rIns="0" bIns="0">
            <a:spAutoFit/>
          </a:bodyPr>
          <a:lstStyle/>
          <a:p>
            <a:pPr>
              <a:defRPr sz="950">
                <a:solidFill>
                  <a:srgbClr val="94A3B8"/>
                </a:solidFill>
              </a:defRPr>
            </a:pPr>
            <a:r>
              <a:t>Badminton Posture AI | Final B.Tech Capstone Defense</a:t>
            </a:r>
          </a:p>
        </p:txBody>
      </p:sp>
      <p:sp>
        <p:nvSpPr>
          <p:cNvPr id="7" name="TextBox 6"/>
          <p:cNvSpPr txBox="1"/>
          <p:nvPr/>
        </p:nvSpPr>
        <p:spPr>
          <a:xfrm>
            <a:off x="4114800" y="6464808"/>
            <a:ext cx="5029200" cy="292608"/>
          </a:xfrm>
          <a:prstGeom prst="rect">
            <a:avLst/>
          </a:prstGeom>
          <a:noFill/>
        </p:spPr>
        <p:txBody>
          <a:bodyPr wrap="none" lIns="0" tIns="0" rIns="0" bIns="0">
            <a:spAutoFit/>
          </a:bodyPr>
          <a:lstStyle/>
          <a:p>
            <a:pPr algn="ctr">
              <a:defRPr sz="900">
                <a:solidFill>
                  <a:srgbClr val="F59E0B"/>
                </a:solidFill>
              </a:defRPr>
            </a:pPr>
            <a:r>
              <a:t>⚠️ Research Prototype — Observational Screening Score (Not Clinical Diagnosis)</a:t>
            </a:r>
          </a:p>
        </p:txBody>
      </p:sp>
      <p:sp>
        <p:nvSpPr>
          <p:cNvPr id="8" name="TextBox 7"/>
          <p:cNvSpPr txBox="1"/>
          <p:nvPr/>
        </p:nvSpPr>
        <p:spPr>
          <a:xfrm>
            <a:off x="9601200" y="6464808"/>
            <a:ext cx="1858975" cy="292608"/>
          </a:xfrm>
          <a:prstGeom prst="rect">
            <a:avLst/>
          </a:prstGeom>
          <a:noFill/>
        </p:spPr>
        <p:txBody>
          <a:bodyPr wrap="none" lIns="0" tIns="0" rIns="0" bIns="0">
            <a:spAutoFit/>
          </a:bodyPr>
          <a:lstStyle/>
          <a:p>
            <a:pPr algn="r">
              <a:defRPr sz="950" b="1">
                <a:solidFill>
                  <a:srgbClr val="38BDF8"/>
                </a:solidFill>
              </a:defRPr>
            </a:pPr>
            <a:r>
              <a:t>Slide 3 of 12</a:t>
            </a:r>
          </a:p>
        </p:txBody>
      </p:sp>
      <p:sp>
        <p:nvSpPr>
          <p:cNvPr id="9" name="Rounded Rectangle 8"/>
          <p:cNvSpPr/>
          <p:nvPr/>
        </p:nvSpPr>
        <p:spPr>
          <a:xfrm>
            <a:off x="731520" y="1508760"/>
            <a:ext cx="5212080" cy="3749039"/>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38BDF8"/>
                </a:solidFill>
              </a:defRPr>
            </a:pPr>
            <a:r>
              <a:t>🎯 Core Engineering Objectives</a:t>
            </a:r>
          </a:p>
          <a:p>
            <a:pPr>
              <a:spcAft>
                <a:spcPts val="400"/>
              </a:spcAft>
            </a:pPr>
            <a:r>
              <a:rPr b="1" sz="1050">
                <a:solidFill>
                  <a:srgbClr val="FFFFFF"/>
                </a:solidFill>
              </a:rPr>
              <a:t>• 1. Automated 3D Pose Extraction: </a:t>
            </a:r>
            <a:r>
              <a:rPr b="0" sz="1050">
                <a:solidFill>
                  <a:srgbClr val="E2E8F0"/>
                </a:solidFill>
              </a:rPr>
              <a:t>Track 33 anatomical landmarks from monocular video using Google MediaPipe Pose.</a:t>
            </a:r>
          </a:p>
          <a:p>
            <a:pPr>
              <a:spcAft>
                <a:spcPts val="400"/>
              </a:spcAft>
            </a:pPr>
            <a:r>
              <a:rPr b="1" sz="1050">
                <a:solidFill>
                  <a:srgbClr val="FFFFFF"/>
                </a:solidFill>
              </a:rPr>
              <a:t>• 2. Kinematic Feature Pipeline: </a:t>
            </a:r>
            <a:r>
              <a:rPr b="0" sz="1050">
                <a:solidFill>
                  <a:srgbClr val="E2E8F0"/>
                </a:solidFill>
              </a:rPr>
              <a:t>Compute 10 physiologically validated sequence features (knee angles, torso lean, asymmetry, velocities).</a:t>
            </a:r>
          </a:p>
          <a:p>
            <a:pPr>
              <a:spcAft>
                <a:spcPts val="400"/>
              </a:spcAft>
            </a:pPr>
            <a:r>
              <a:rPr b="1" sz="1050">
                <a:solidFill>
                  <a:srgbClr val="FFFFFF"/>
                </a:solidFill>
              </a:rPr>
              <a:t>• 3. Supervised Movement Classification: </a:t>
            </a:r>
            <a:r>
              <a:rPr b="0" sz="1050">
                <a:solidFill>
                  <a:srgbClr val="E2E8F0"/>
                </a:solidFill>
              </a:rPr>
              <a:t>Train an ML classifier on 161 human-reviewed sequences across three high-impact target classes.</a:t>
            </a:r>
          </a:p>
          <a:p>
            <a:pPr>
              <a:spcAft>
                <a:spcPts val="400"/>
              </a:spcAft>
            </a:pPr>
            <a:r>
              <a:rPr b="1" sz="1050">
                <a:solidFill>
                  <a:srgbClr val="FFFFFF"/>
                </a:solidFill>
              </a:rPr>
              <a:t>• 4. Numerical Screening Score (0–100): </a:t>
            </a:r>
            <a:r>
              <a:rPr b="0" sz="1050">
                <a:solidFill>
                  <a:srgbClr val="E2E8F0"/>
                </a:solidFill>
              </a:rPr>
              <a:t>Implement Rubric v0.3 to evaluate posture safety margins via a deterministic score and Low/Moderate/High categories.</a:t>
            </a:r>
          </a:p>
          <a:p>
            <a:pPr>
              <a:spcAft>
                <a:spcPts val="400"/>
              </a:spcAft>
            </a:pPr>
            <a:r>
              <a:rPr b="1" sz="1050">
                <a:solidFill>
                  <a:srgbClr val="FFFFFF"/>
                </a:solidFill>
              </a:rPr>
              <a:t>• 5. Interactive Web Dashboard: </a:t>
            </a:r>
            <a:r>
              <a:rPr b="0" sz="1050">
                <a:solidFill>
                  <a:srgbClr val="E2E8F0"/>
                </a:solidFill>
              </a:rPr>
              <a:t>Deliver an auditable Streamlit application with video playback, score gauges, keyframe inspection, and local SQLite audit logging.</a:t>
            </a:r>
          </a:p>
        </p:txBody>
      </p:sp>
      <p:sp>
        <p:nvSpPr>
          <p:cNvPr id="10" name="Rounded Rectangle 9"/>
          <p:cNvSpPr/>
          <p:nvPr/>
        </p:nvSpPr>
        <p:spPr>
          <a:xfrm>
            <a:off x="6248095" y="1508760"/>
            <a:ext cx="5212080" cy="3749039"/>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F59E0B"/>
                </a:solidFill>
              </a:defRPr>
            </a:pPr>
            <a:r>
              <a:t>🛡️ Scope Boundaries &amp; Non-Goals</a:t>
            </a:r>
          </a:p>
          <a:p>
            <a:pPr>
              <a:spcAft>
                <a:spcPts val="400"/>
              </a:spcAft>
            </a:pPr>
            <a:r>
              <a:rPr b="1" sz="1050">
                <a:solidFill>
                  <a:srgbClr val="FFFFFF"/>
                </a:solidFill>
              </a:rPr>
              <a:t>• Active Movement Scope: </a:t>
            </a:r>
            <a:r>
              <a:rPr b="0" sz="1050">
                <a:solidFill>
                  <a:srgbClr val="E2E8F0"/>
                </a:solidFill>
              </a:rPr>
              <a:t>Focus strictly on 3 high-impact classes: LUNGE, SMASH_LANDING, and CHANGE_OF_DIRECTION.</a:t>
            </a:r>
          </a:p>
          <a:p>
            <a:pPr>
              <a:spcAft>
                <a:spcPts val="400"/>
              </a:spcAft>
            </a:pPr>
            <a:r>
              <a:rPr b="1" sz="1050">
                <a:solidFill>
                  <a:srgbClr val="FFFFFF"/>
                </a:solidFill>
              </a:rPr>
              <a:t>• Deferred Action Classes: </a:t>
            </a:r>
            <a:r>
              <a:rPr b="0" sz="1050">
                <a:solidFill>
                  <a:srgbClr val="E2E8F0"/>
                </a:solidFill>
              </a:rPr>
              <a:t>SCISSOR_JUMP and FOOTWORK_SPLIT_STEP are retired from active scoring due to severe overlap and sample sparsity.</a:t>
            </a:r>
          </a:p>
          <a:p>
            <a:pPr>
              <a:spcAft>
                <a:spcPts val="400"/>
              </a:spcAft>
            </a:pPr>
            <a:r>
              <a:rPr b="1" sz="1050">
                <a:solidFill>
                  <a:srgbClr val="FFFFFF"/>
                </a:solidFill>
              </a:rPr>
              <a:t>• NOT a Clinical Predictor (Non-Goal): </a:t>
            </a:r>
            <a:r>
              <a:rPr b="0" sz="1050">
                <a:solidFill>
                  <a:srgbClr val="E2E8F0"/>
                </a:solidFill>
              </a:rPr>
              <a:t>Computer vision cannot measure bone density, ligament tensile strength, or muscle fatigue. The system evaluates POSTURE RISK INDICATORS, not medical outcomes.</a:t>
            </a:r>
          </a:p>
          <a:p>
            <a:pPr>
              <a:spcAft>
                <a:spcPts val="400"/>
              </a:spcAft>
            </a:pPr>
            <a:r>
              <a:rPr b="1" sz="1050">
                <a:solidFill>
                  <a:srgbClr val="FFFFFF"/>
                </a:solidFill>
              </a:rPr>
              <a:t>• Provisional Risk Framing: </a:t>
            </a:r>
            <a:r>
              <a:rPr b="0" sz="1050">
                <a:solidFill>
                  <a:srgbClr val="E2E8F0"/>
                </a:solidFill>
              </a:rPr>
              <a:t>Rubric v0.3 reports a deterministic 0–100 score as a 'PROVISIONAL' engineering benchmark; cutoffs are unvalidated clinically.</a:t>
            </a:r>
          </a:p>
          <a:p>
            <a:pPr>
              <a:spcAft>
                <a:spcPts val="400"/>
              </a:spcAft>
            </a:pPr>
            <a:r>
              <a:rPr b="1" sz="1050">
                <a:solidFill>
                  <a:srgbClr val="FFFFFF"/>
                </a:solidFill>
              </a:rPr>
              <a:t>• Strict Safety Gating: </a:t>
            </a:r>
            <a:r>
              <a:rPr b="0" sz="1050">
                <a:solidFill>
                  <a:srgbClr val="E2E8F0"/>
                </a:solidFill>
              </a:rPr>
              <a:t>Low-quality or occluded frames automatically default to 'UNASSESSED' (Score: N/A) rather than fabricating predictions.</a:t>
            </a:r>
          </a:p>
        </p:txBody>
      </p:sp>
      <p:sp>
        <p:nvSpPr>
          <p:cNvPr id="11" name="Rounded Rectangle 10"/>
          <p:cNvSpPr/>
          <p:nvPr/>
        </p:nvSpPr>
        <p:spPr>
          <a:xfrm>
            <a:off x="731520" y="5440680"/>
            <a:ext cx="10728655" cy="777240"/>
          </a:xfrm>
          <a:prstGeom prst="roundRect">
            <a:avLst/>
          </a:prstGeom>
          <a:solidFill>
            <a:srgbClr val="1822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2DD4BF"/>
                </a:solidFill>
              </a:defRPr>
            </a:pPr>
            <a:r>
              <a:t>⚠️ Crucial Distinction: Movement Classification vs. Injury Risk Assessment</a:t>
            </a:r>
          </a:p>
          <a:p>
            <a:pPr>
              <a:spcAft>
                <a:spcPts val="400"/>
              </a:spcAft>
            </a:pPr>
            <a:r>
              <a:rPr b="1" sz="1050">
                <a:solidFill>
                  <a:srgbClr val="38BDF8"/>
                </a:solidFill>
              </a:rPr>
              <a:t>• Movement Classification (Machine Learning): </a:t>
            </a:r>
            <a:r>
              <a:rPr b="0" sz="1050">
                <a:solidFill>
                  <a:srgbClr val="E2E8F0"/>
                </a:solidFill>
              </a:rPr>
              <a:t>Determines WHAT movement occurred (e.g. Smash Landing vs Lunge) using Random Forest.</a:t>
            </a:r>
          </a:p>
          <a:p>
            <a:pPr>
              <a:spcAft>
                <a:spcPts val="400"/>
              </a:spcAft>
            </a:pPr>
            <a:r>
              <a:rPr b="1" sz="1050">
                <a:solidFill>
                  <a:srgbClr val="F59E0B"/>
                </a:solidFill>
              </a:rPr>
              <a:t>• Injury Risk Assessment (Rule-Based Rubric v0.3): </a:t>
            </a:r>
            <a:r>
              <a:rPr b="0" sz="1050">
                <a:solidFill>
                  <a:srgbClr val="E2E8F0"/>
                </a:solidFill>
              </a:rPr>
              <a:t>Evaluates HOW that movement was executed biomechanically using a deterministic 0–100 posture screening score.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51560"/>
          </a:xfrm>
          <a:prstGeom prst="rect">
            <a:avLst/>
          </a:prstGeom>
          <a:noFill/>
        </p:spPr>
        <p:txBody>
          <a:bodyPr wrap="square" lIns="0" tIns="0" rIns="0" bIns="0">
            <a:spAutoFit/>
          </a:bodyPr>
          <a:lstStyle/>
          <a:p>
            <a:pPr>
              <a:spcAft>
                <a:spcPts val="200"/>
              </a:spcAft>
              <a:defRPr sz="1000" b="1">
                <a:solidFill>
                  <a:srgbClr val="38BDF8"/>
                </a:solidFill>
              </a:defRPr>
            </a:pPr>
            <a:r>
              <a:t>SYSTEM ARCHITECTURE</a:t>
            </a:r>
          </a:p>
          <a:p>
            <a:pPr>
              <a:spcAft>
                <a:spcPts val="200"/>
              </a:spcAft>
              <a:defRPr sz="2100" b="1">
                <a:solidFill>
                  <a:srgbClr val="FFFFFF"/>
                </a:solidFill>
              </a:defRPr>
            </a:pPr>
            <a:r>
              <a:t>Modular End-to-End Computer Vision Pipeline</a:t>
            </a:r>
          </a:p>
          <a:p>
            <a:pPr>
              <a:defRPr sz="1100">
                <a:solidFill>
                  <a:srgbClr val="94A3B8"/>
                </a:solidFill>
              </a:defRPr>
            </a:pPr>
            <a:r>
              <a:t>A decoupled multi-stage architecture from raw video ingestion to auditable web presentation.</a:t>
            </a:r>
          </a:p>
        </p:txBody>
      </p:sp>
      <p:sp>
        <p:nvSpPr>
          <p:cNvPr id="5" name="Rectangle 4"/>
          <p:cNvSpPr/>
          <p:nvPr/>
        </p:nvSpPr>
        <p:spPr>
          <a:xfrm>
            <a:off x="731520" y="641908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64808"/>
            <a:ext cx="4572000" cy="292608"/>
          </a:xfrm>
          <a:prstGeom prst="rect">
            <a:avLst/>
          </a:prstGeom>
          <a:noFill/>
        </p:spPr>
        <p:txBody>
          <a:bodyPr wrap="none" lIns="0" tIns="0" rIns="0" bIns="0">
            <a:spAutoFit/>
          </a:bodyPr>
          <a:lstStyle/>
          <a:p>
            <a:pPr>
              <a:defRPr sz="950">
                <a:solidFill>
                  <a:srgbClr val="94A3B8"/>
                </a:solidFill>
              </a:defRPr>
            </a:pPr>
            <a:r>
              <a:t>Badminton Posture AI | Final B.Tech Capstone Defense</a:t>
            </a:r>
          </a:p>
        </p:txBody>
      </p:sp>
      <p:sp>
        <p:nvSpPr>
          <p:cNvPr id="7" name="TextBox 6"/>
          <p:cNvSpPr txBox="1"/>
          <p:nvPr/>
        </p:nvSpPr>
        <p:spPr>
          <a:xfrm>
            <a:off x="4114800" y="6464808"/>
            <a:ext cx="5029200" cy="292608"/>
          </a:xfrm>
          <a:prstGeom prst="rect">
            <a:avLst/>
          </a:prstGeom>
          <a:noFill/>
        </p:spPr>
        <p:txBody>
          <a:bodyPr wrap="none" lIns="0" tIns="0" rIns="0" bIns="0">
            <a:spAutoFit/>
          </a:bodyPr>
          <a:lstStyle/>
          <a:p>
            <a:pPr algn="ctr">
              <a:defRPr sz="900">
                <a:solidFill>
                  <a:srgbClr val="F59E0B"/>
                </a:solidFill>
              </a:defRPr>
            </a:pPr>
            <a:r>
              <a:t>⚠️ Research Prototype — Observational Screening Score (Not Clinical Diagnosis)</a:t>
            </a:r>
          </a:p>
        </p:txBody>
      </p:sp>
      <p:sp>
        <p:nvSpPr>
          <p:cNvPr id="8" name="TextBox 7"/>
          <p:cNvSpPr txBox="1"/>
          <p:nvPr/>
        </p:nvSpPr>
        <p:spPr>
          <a:xfrm>
            <a:off x="9601200" y="6464808"/>
            <a:ext cx="1858975" cy="292608"/>
          </a:xfrm>
          <a:prstGeom prst="rect">
            <a:avLst/>
          </a:prstGeom>
          <a:noFill/>
        </p:spPr>
        <p:txBody>
          <a:bodyPr wrap="none" lIns="0" tIns="0" rIns="0" bIns="0">
            <a:spAutoFit/>
          </a:bodyPr>
          <a:lstStyle/>
          <a:p>
            <a:pPr algn="r">
              <a:defRPr sz="950" b="1">
                <a:solidFill>
                  <a:srgbClr val="38BDF8"/>
                </a:solidFill>
              </a:defRPr>
            </a:pPr>
            <a:r>
              <a:t>Slide 4 of 12</a:t>
            </a:r>
          </a:p>
        </p:txBody>
      </p:sp>
      <p:sp>
        <p:nvSpPr>
          <p:cNvPr id="9" name="Rounded Rectangle 8"/>
          <p:cNvSpPr/>
          <p:nvPr/>
        </p:nvSpPr>
        <p:spPr>
          <a:xfrm>
            <a:off x="731520" y="1508760"/>
            <a:ext cx="2011680" cy="3566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38BDF8"/>
                </a:solidFill>
              </a:defRPr>
            </a:pPr>
            <a:r>
              <a:t>STAGE 1</a:t>
            </a:r>
            <a:br/>
            <a:r>
              <a:t>Video Ingestion</a:t>
            </a:r>
          </a:p>
          <a:p>
            <a:pPr>
              <a:spcAft>
                <a:spcPts val="300"/>
              </a:spcAft>
            </a:pPr>
            <a:r>
              <a:rPr b="1" sz="950">
                <a:solidFill>
                  <a:srgbClr val="FFFFFF"/>
                </a:solidFill>
              </a:rPr>
              <a:t>• OpenCV Decoded: </a:t>
            </a:r>
            <a:r>
              <a:rPr b="0" sz="950">
                <a:solidFill>
                  <a:srgbClr val="E2E8F0"/>
                </a:solidFill>
              </a:rPr>
              <a:t>Raw MP4/MOV video streams.</a:t>
            </a:r>
          </a:p>
          <a:p>
            <a:pPr>
              <a:spcAft>
                <a:spcPts val="300"/>
              </a:spcAft>
            </a:pPr>
            <a:r>
              <a:rPr b="1" sz="950">
                <a:solidFill>
                  <a:srgbClr val="FFFFFF"/>
                </a:solidFill>
              </a:rPr>
              <a:t>• Frame Resampling: </a:t>
            </a:r>
            <a:r>
              <a:rPr b="0" sz="950">
                <a:solidFill>
                  <a:srgbClr val="E2E8F0"/>
                </a:solidFill>
              </a:rPr>
              <a:t>Subsampled at 15 FPS for efficiency.</a:t>
            </a:r>
          </a:p>
          <a:p>
            <a:pPr>
              <a:spcAft>
                <a:spcPts val="300"/>
              </a:spcAft>
            </a:pPr>
            <a:r>
              <a:rPr b="1" sz="950">
                <a:solidFill>
                  <a:srgbClr val="FFFFFF"/>
                </a:solidFill>
              </a:rPr>
              <a:t>• Validation Guard: </a:t>
            </a:r>
            <a:r>
              <a:rPr b="0" sz="950">
                <a:solidFill>
                  <a:srgbClr val="E2E8F0"/>
                </a:solidFill>
              </a:rPr>
              <a:t>Checks headers, corrupt frames, and resolution.</a:t>
            </a:r>
          </a:p>
          <a:p>
            <a:pPr>
              <a:spcAft>
                <a:spcPts val="300"/>
              </a:spcAft>
            </a:pPr>
            <a:r>
              <a:rPr b="1" sz="950">
                <a:solidFill>
                  <a:srgbClr val="FFFFFF"/>
                </a:solidFill>
              </a:rPr>
              <a:t>• Frame Buffer: </a:t>
            </a:r>
            <a:r>
              <a:rPr b="0" sz="950">
                <a:solidFill>
                  <a:srgbClr val="E2E8F0"/>
                </a:solidFill>
              </a:rPr>
              <a:t>Maintains sliding memory window.</a:t>
            </a:r>
          </a:p>
        </p:txBody>
      </p:sp>
      <p:sp>
        <p:nvSpPr>
          <p:cNvPr id="10" name="Rounded Rectangle 9"/>
          <p:cNvSpPr/>
          <p:nvPr/>
        </p:nvSpPr>
        <p:spPr>
          <a:xfrm>
            <a:off x="2907791" y="1508760"/>
            <a:ext cx="2011680" cy="3566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2DD4BF"/>
                </a:solidFill>
              </a:defRPr>
            </a:pPr>
            <a:r>
              <a:t>STAGE 2</a:t>
            </a:r>
            <a:br/>
            <a:r>
              <a:t>Pose Extraction</a:t>
            </a:r>
          </a:p>
          <a:p>
            <a:pPr>
              <a:spcAft>
                <a:spcPts val="300"/>
              </a:spcAft>
            </a:pPr>
            <a:r>
              <a:rPr b="1" sz="950">
                <a:solidFill>
                  <a:srgbClr val="FFFFFF"/>
                </a:solidFill>
              </a:rPr>
              <a:t>• Google MediaPipe: </a:t>
            </a:r>
            <a:r>
              <a:rPr b="0" sz="950">
                <a:solidFill>
                  <a:srgbClr val="E2E8F0"/>
                </a:solidFill>
              </a:rPr>
              <a:t>Pretrained Pose Landmarker.</a:t>
            </a:r>
          </a:p>
          <a:p>
            <a:pPr>
              <a:spcAft>
                <a:spcPts val="300"/>
              </a:spcAft>
            </a:pPr>
            <a:r>
              <a:rPr b="1" sz="950">
                <a:solidFill>
                  <a:srgbClr val="FFFFFF"/>
                </a:solidFill>
              </a:rPr>
              <a:t>• 33 3D Keypoints: </a:t>
            </a:r>
            <a:r>
              <a:rPr b="0" sz="950">
                <a:solidFill>
                  <a:srgbClr val="E2E8F0"/>
                </a:solidFill>
              </a:rPr>
              <a:t>Tracks hips, knees, ankles, trunk, arms.</a:t>
            </a:r>
          </a:p>
          <a:p>
            <a:pPr>
              <a:spcAft>
                <a:spcPts val="300"/>
              </a:spcAft>
            </a:pPr>
            <a:r>
              <a:rPr b="1" sz="950">
                <a:solidFill>
                  <a:srgbClr val="FFFFFF"/>
                </a:solidFill>
              </a:rPr>
              <a:t>• Quality Decoupling: </a:t>
            </a:r>
            <a:r>
              <a:rPr b="0" sz="950">
                <a:solidFill>
                  <a:srgbClr val="E2E8F0"/>
                </a:solidFill>
              </a:rPr>
              <a:t>Separates lower-body from upper-limb quality.</a:t>
            </a:r>
          </a:p>
          <a:p>
            <a:pPr>
              <a:spcAft>
                <a:spcPts val="300"/>
              </a:spcAft>
            </a:pPr>
            <a:r>
              <a:rPr b="1" sz="950">
                <a:solidFill>
                  <a:srgbClr val="FFFFFF"/>
                </a:solidFill>
              </a:rPr>
              <a:t>• Coordinate Norm: </a:t>
            </a:r>
            <a:r>
              <a:rPr b="0" sz="950">
                <a:solidFill>
                  <a:srgbClr val="E2E8F0"/>
                </a:solidFill>
              </a:rPr>
              <a:t>Normalized image space + relative depth z.</a:t>
            </a:r>
          </a:p>
        </p:txBody>
      </p:sp>
      <p:sp>
        <p:nvSpPr>
          <p:cNvPr id="11" name="Rounded Rectangle 10"/>
          <p:cNvSpPr/>
          <p:nvPr/>
        </p:nvSpPr>
        <p:spPr>
          <a:xfrm>
            <a:off x="5084064" y="1508760"/>
            <a:ext cx="2011680" cy="3566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F59E0B"/>
                </a:solidFill>
              </a:defRPr>
            </a:pPr>
            <a:r>
              <a:t>STAGE 3</a:t>
            </a:r>
            <a:br/>
            <a:r>
              <a:t>Candidate Detection</a:t>
            </a:r>
          </a:p>
          <a:p>
            <a:pPr>
              <a:spcAft>
                <a:spcPts val="300"/>
              </a:spcAft>
            </a:pPr>
            <a:r>
              <a:rPr b="1" sz="950">
                <a:solidFill>
                  <a:srgbClr val="FFFFFF"/>
                </a:solidFill>
              </a:rPr>
              <a:t>• Temporal Segmentation: </a:t>
            </a:r>
            <a:r>
              <a:rPr b="0" sz="950">
                <a:solidFill>
                  <a:srgbClr val="E2E8F0"/>
                </a:solidFill>
              </a:rPr>
              <a:t>Sliding-window kinematic detector.</a:t>
            </a:r>
          </a:p>
          <a:p>
            <a:pPr>
              <a:spcAft>
                <a:spcPts val="300"/>
              </a:spcAft>
            </a:pPr>
            <a:r>
              <a:rPr b="1" sz="950">
                <a:solidFill>
                  <a:srgbClr val="FFFFFF"/>
                </a:solidFill>
              </a:rPr>
              <a:t>• Multi-Signal Cues: </a:t>
            </a:r>
            <a:r>
              <a:rPr b="0" sz="950">
                <a:solidFill>
                  <a:srgbClr val="E2E8F0"/>
                </a:solidFill>
              </a:rPr>
              <a:t>Hip drop, stance width ratio, torso lean.</a:t>
            </a:r>
          </a:p>
          <a:p>
            <a:pPr>
              <a:spcAft>
                <a:spcPts val="300"/>
              </a:spcAft>
            </a:pPr>
            <a:r>
              <a:rPr b="1" sz="950">
                <a:solidFill>
                  <a:srgbClr val="FFFFFF"/>
                </a:solidFill>
              </a:rPr>
              <a:t>• Keyframe Selection: </a:t>
            </a:r>
            <a:r>
              <a:rPr b="0" sz="950">
                <a:solidFill>
                  <a:srgbClr val="E2E8F0"/>
                </a:solidFill>
              </a:rPr>
              <a:t>Local median smoothing identifies plant instant.</a:t>
            </a:r>
          </a:p>
          <a:p>
            <a:pPr>
              <a:spcAft>
                <a:spcPts val="300"/>
              </a:spcAft>
            </a:pPr>
            <a:r>
              <a:rPr b="1" sz="950">
                <a:solidFill>
                  <a:srgbClr val="FFFFFF"/>
                </a:solidFill>
              </a:rPr>
              <a:t>• Subclip Slicing: </a:t>
            </a:r>
            <a:r>
              <a:rPr b="0" sz="950">
                <a:solidFill>
                  <a:srgbClr val="E2E8F0"/>
                </a:solidFill>
              </a:rPr>
              <a:t>Extracts candidate event intervals.</a:t>
            </a:r>
          </a:p>
        </p:txBody>
      </p:sp>
      <p:sp>
        <p:nvSpPr>
          <p:cNvPr id="12" name="Rounded Rectangle 11"/>
          <p:cNvSpPr/>
          <p:nvPr/>
        </p:nvSpPr>
        <p:spPr>
          <a:xfrm>
            <a:off x="7260336" y="1508760"/>
            <a:ext cx="2011680" cy="3566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38BDF8"/>
                </a:solidFill>
              </a:defRPr>
            </a:pPr>
            <a:r>
              <a:t>STAGE 4</a:t>
            </a:r>
            <a:br/>
            <a:r>
              <a:t>Feature &amp; ML Engine</a:t>
            </a:r>
          </a:p>
          <a:p>
            <a:pPr>
              <a:spcAft>
                <a:spcPts val="300"/>
              </a:spcAft>
            </a:pPr>
            <a:r>
              <a:rPr b="1" sz="950">
                <a:solidFill>
                  <a:srgbClr val="FFFFFF"/>
                </a:solidFill>
              </a:rPr>
              <a:t>• 10 Kinematic Features: </a:t>
            </a:r>
            <a:r>
              <a:rPr b="0" sz="950">
                <a:solidFill>
                  <a:srgbClr val="E2E8F0"/>
                </a:solidFill>
              </a:rPr>
              <a:t>Aggregated sequence statistics.</a:t>
            </a:r>
          </a:p>
          <a:p>
            <a:pPr>
              <a:spcAft>
                <a:spcPts val="300"/>
              </a:spcAft>
            </a:pPr>
            <a:r>
              <a:rPr b="1" sz="950">
                <a:solidFill>
                  <a:srgbClr val="FFFFFF"/>
                </a:solidFill>
              </a:rPr>
              <a:t>• Quality Gating: </a:t>
            </a:r>
            <a:r>
              <a:rPr b="0" sz="950">
                <a:solidFill>
                  <a:srgbClr val="E2E8F0"/>
                </a:solidFill>
              </a:rPr>
              <a:t>Rejects missing or non-finite measurements.</a:t>
            </a:r>
          </a:p>
          <a:p>
            <a:pPr>
              <a:spcAft>
                <a:spcPts val="300"/>
              </a:spcAft>
            </a:pPr>
            <a:r>
              <a:rPr b="1" sz="950">
                <a:solidFill>
                  <a:srgbClr val="FFFFFF"/>
                </a:solidFill>
              </a:rPr>
              <a:t>• Random Forest: </a:t>
            </a:r>
            <a:r>
              <a:rPr b="0" sz="950">
                <a:solidFill>
                  <a:srgbClr val="E2E8F0"/>
                </a:solidFill>
              </a:rPr>
              <a:t>161-event reviewed model.</a:t>
            </a:r>
          </a:p>
          <a:p>
            <a:pPr>
              <a:spcAft>
                <a:spcPts val="300"/>
              </a:spcAft>
            </a:pPr>
            <a:r>
              <a:rPr b="1" sz="950">
                <a:solidFill>
                  <a:srgbClr val="FFFFFF"/>
                </a:solidFill>
              </a:rPr>
              <a:t>• Multi-Class Probabilities: </a:t>
            </a:r>
            <a:r>
              <a:rPr b="0" sz="950">
                <a:solidFill>
                  <a:srgbClr val="E2E8F0"/>
                </a:solidFill>
              </a:rPr>
              <a:t>Returns class confidence vector.</a:t>
            </a:r>
          </a:p>
        </p:txBody>
      </p:sp>
      <p:sp>
        <p:nvSpPr>
          <p:cNvPr id="13" name="Rounded Rectangle 12"/>
          <p:cNvSpPr/>
          <p:nvPr/>
        </p:nvSpPr>
        <p:spPr>
          <a:xfrm>
            <a:off x="9436608" y="1508760"/>
            <a:ext cx="2011680" cy="3566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10B981"/>
                </a:solidFill>
              </a:defRPr>
            </a:pPr>
            <a:r>
              <a:t>STAGE 5</a:t>
            </a:r>
            <a:br/>
            <a:r>
              <a:t>Risk &amp; Presentation</a:t>
            </a:r>
          </a:p>
          <a:p>
            <a:pPr>
              <a:spcAft>
                <a:spcPts val="300"/>
              </a:spcAft>
            </a:pPr>
            <a:r>
              <a:rPr b="1" sz="950">
                <a:solidFill>
                  <a:srgbClr val="FFFFFF"/>
                </a:solidFill>
              </a:rPr>
              <a:t>• Rubric v0.3 Score: </a:t>
            </a:r>
            <a:r>
              <a:rPr b="0" sz="950">
                <a:solidFill>
                  <a:srgbClr val="E2E8F0"/>
                </a:solidFill>
              </a:rPr>
              <a:t>Deterministic 0–100 score + Low/Mod/High bands.</a:t>
            </a:r>
          </a:p>
          <a:p>
            <a:pPr>
              <a:spcAft>
                <a:spcPts val="300"/>
              </a:spcAft>
            </a:pPr>
            <a:r>
              <a:rPr b="1" sz="950">
                <a:solidFill>
                  <a:srgbClr val="FFFFFF"/>
                </a:solidFill>
              </a:rPr>
              <a:t>• Provisional Status: </a:t>
            </a:r>
            <a:r>
              <a:rPr b="0" sz="950">
                <a:solidFill>
                  <a:srgbClr val="E2E8F0"/>
                </a:solidFill>
              </a:rPr>
              <a:t>Reports factual degrees + score without clinical over-claims.</a:t>
            </a:r>
          </a:p>
          <a:p>
            <a:pPr>
              <a:spcAft>
                <a:spcPts val="300"/>
              </a:spcAft>
            </a:pPr>
            <a:r>
              <a:rPr b="1" sz="950">
                <a:solidFill>
                  <a:srgbClr val="FFFFFF"/>
                </a:solidFill>
              </a:rPr>
              <a:t>• Streamlit UI: </a:t>
            </a:r>
            <a:r>
              <a:rPr b="0" sz="950">
                <a:solidFill>
                  <a:srgbClr val="E2E8F0"/>
                </a:solidFill>
              </a:rPr>
              <a:t>Annotated video + score gauges + tables.</a:t>
            </a:r>
          </a:p>
          <a:p>
            <a:pPr>
              <a:spcAft>
                <a:spcPts val="300"/>
              </a:spcAft>
            </a:pPr>
            <a:r>
              <a:rPr b="1" sz="950">
                <a:solidFill>
                  <a:srgbClr val="FFFFFF"/>
                </a:solidFill>
              </a:rPr>
              <a:t>• SQLite Audit Log: </a:t>
            </a:r>
            <a:r>
              <a:rPr b="0" sz="950">
                <a:solidFill>
                  <a:srgbClr val="E2E8F0"/>
                </a:solidFill>
              </a:rPr>
              <a:t>Logs run history and JSON manifests.</a:t>
            </a:r>
          </a:p>
        </p:txBody>
      </p:sp>
      <p:sp>
        <p:nvSpPr>
          <p:cNvPr id="14" name="Rounded Rectangle 13"/>
          <p:cNvSpPr/>
          <p:nvPr/>
        </p:nvSpPr>
        <p:spPr>
          <a:xfrm>
            <a:off x="731520" y="5257800"/>
            <a:ext cx="10728655" cy="960120"/>
          </a:xfrm>
          <a:prstGeom prst="roundRect">
            <a:avLst/>
          </a:prstGeom>
          <a:solidFill>
            <a:srgbClr val="1822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2DD4BF"/>
                </a:solidFill>
              </a:defRPr>
            </a:pPr>
            <a:r>
              <a:t>🏛️ Decoupled Architectural Design Principle</a:t>
            </a:r>
          </a:p>
          <a:p>
            <a:pPr>
              <a:spcAft>
                <a:spcPts val="400"/>
              </a:spcAft>
            </a:pPr>
            <a:r>
              <a:rPr b="1" sz="1050">
                <a:solidFill>
                  <a:srgbClr val="38BDF8"/>
                </a:solidFill>
              </a:rPr>
              <a:t>• Modular Decoupling: </a:t>
            </a:r>
            <a:r>
              <a:rPr b="0" sz="1050">
                <a:solidFill>
                  <a:srgbClr val="E2E8F0"/>
                </a:solidFill>
              </a:rPr>
              <a:t>Video I/O, Geometric Pose Tracking, Movement Classification, and Risk Rubrics operate as fully independent modules.</a:t>
            </a:r>
          </a:p>
          <a:p>
            <a:pPr>
              <a:spcAft>
                <a:spcPts val="400"/>
              </a:spcAft>
            </a:pPr>
            <a:r>
              <a:rPr b="1" sz="1050">
                <a:solidFill>
                  <a:srgbClr val="10B981"/>
                </a:solidFill>
              </a:rPr>
              <a:t>• Regression Safety: </a:t>
            </a:r>
            <a:r>
              <a:rPr b="0" sz="1050">
                <a:solidFill>
                  <a:srgbClr val="E2E8F0"/>
                </a:solidFill>
              </a:rPr>
              <a:t>Extensively verified by our automated test suite (120 passed across 12 test modules), ensuring zero silent regressions.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51560"/>
          </a:xfrm>
          <a:prstGeom prst="rect">
            <a:avLst/>
          </a:prstGeom>
          <a:noFill/>
        </p:spPr>
        <p:txBody>
          <a:bodyPr wrap="square" lIns="0" tIns="0" rIns="0" bIns="0">
            <a:spAutoFit/>
          </a:bodyPr>
          <a:lstStyle/>
          <a:p>
            <a:pPr>
              <a:spcAft>
                <a:spcPts val="200"/>
              </a:spcAft>
              <a:defRPr sz="1000" b="1">
                <a:solidFill>
                  <a:srgbClr val="38BDF8"/>
                </a:solidFill>
              </a:defRPr>
            </a:pPr>
            <a:r>
              <a:t>COMPUTER VISION &amp; KINEMATICS</a:t>
            </a:r>
          </a:p>
          <a:p>
            <a:pPr>
              <a:spcAft>
                <a:spcPts val="200"/>
              </a:spcAft>
              <a:defRPr sz="2100" b="1">
                <a:solidFill>
                  <a:srgbClr val="FFFFFF"/>
                </a:solidFill>
              </a:defRPr>
            </a:pPr>
            <a:r>
              <a:t>MediaPipe 3D Landmarks &amp; Feature Engineering</a:t>
            </a:r>
          </a:p>
          <a:p>
            <a:pPr>
              <a:defRPr sz="1100">
                <a:solidFill>
                  <a:srgbClr val="94A3B8"/>
                </a:solidFill>
              </a:defRPr>
            </a:pPr>
            <a:r>
              <a:t>Extracting 33 anatomical landmarks and condensing noisy coordinates into 10 physiologically grounded sequence features.</a:t>
            </a:r>
          </a:p>
        </p:txBody>
      </p:sp>
      <p:sp>
        <p:nvSpPr>
          <p:cNvPr id="5" name="Rectangle 4"/>
          <p:cNvSpPr/>
          <p:nvPr/>
        </p:nvSpPr>
        <p:spPr>
          <a:xfrm>
            <a:off x="731520" y="641908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64808"/>
            <a:ext cx="4572000" cy="292608"/>
          </a:xfrm>
          <a:prstGeom prst="rect">
            <a:avLst/>
          </a:prstGeom>
          <a:noFill/>
        </p:spPr>
        <p:txBody>
          <a:bodyPr wrap="none" lIns="0" tIns="0" rIns="0" bIns="0">
            <a:spAutoFit/>
          </a:bodyPr>
          <a:lstStyle/>
          <a:p>
            <a:pPr>
              <a:defRPr sz="950">
                <a:solidFill>
                  <a:srgbClr val="94A3B8"/>
                </a:solidFill>
              </a:defRPr>
            </a:pPr>
            <a:r>
              <a:t>Badminton Posture AI | Final B.Tech Capstone Defense</a:t>
            </a:r>
          </a:p>
        </p:txBody>
      </p:sp>
      <p:sp>
        <p:nvSpPr>
          <p:cNvPr id="7" name="TextBox 6"/>
          <p:cNvSpPr txBox="1"/>
          <p:nvPr/>
        </p:nvSpPr>
        <p:spPr>
          <a:xfrm>
            <a:off x="4114800" y="6464808"/>
            <a:ext cx="5029200" cy="292608"/>
          </a:xfrm>
          <a:prstGeom prst="rect">
            <a:avLst/>
          </a:prstGeom>
          <a:noFill/>
        </p:spPr>
        <p:txBody>
          <a:bodyPr wrap="none" lIns="0" tIns="0" rIns="0" bIns="0">
            <a:spAutoFit/>
          </a:bodyPr>
          <a:lstStyle/>
          <a:p>
            <a:pPr algn="ctr">
              <a:defRPr sz="900">
                <a:solidFill>
                  <a:srgbClr val="F59E0B"/>
                </a:solidFill>
              </a:defRPr>
            </a:pPr>
            <a:r>
              <a:t>⚠️ Research Prototype — Observational Screening Score (Not Clinical Diagnosis)</a:t>
            </a:r>
          </a:p>
        </p:txBody>
      </p:sp>
      <p:sp>
        <p:nvSpPr>
          <p:cNvPr id="8" name="TextBox 7"/>
          <p:cNvSpPr txBox="1"/>
          <p:nvPr/>
        </p:nvSpPr>
        <p:spPr>
          <a:xfrm>
            <a:off x="9601200" y="6464808"/>
            <a:ext cx="1858975" cy="292608"/>
          </a:xfrm>
          <a:prstGeom prst="rect">
            <a:avLst/>
          </a:prstGeom>
          <a:noFill/>
        </p:spPr>
        <p:txBody>
          <a:bodyPr wrap="none" lIns="0" tIns="0" rIns="0" bIns="0">
            <a:spAutoFit/>
          </a:bodyPr>
          <a:lstStyle/>
          <a:p>
            <a:pPr algn="r">
              <a:defRPr sz="950" b="1">
                <a:solidFill>
                  <a:srgbClr val="38BDF8"/>
                </a:solidFill>
              </a:defRPr>
            </a:pPr>
            <a:r>
              <a:t>Slide 5 of 12</a:t>
            </a:r>
          </a:p>
        </p:txBody>
      </p:sp>
      <p:sp>
        <p:nvSpPr>
          <p:cNvPr id="9" name="Rounded Rectangle 8"/>
          <p:cNvSpPr/>
          <p:nvPr/>
        </p:nvSpPr>
        <p:spPr>
          <a:xfrm>
            <a:off x="731520" y="1508760"/>
            <a:ext cx="52120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38BDF8"/>
                </a:solidFill>
              </a:defRPr>
            </a:pPr>
            <a:r>
              <a:t>🦴 MediaPipe Pose &amp; Quality Decoupling</a:t>
            </a:r>
          </a:p>
          <a:p>
            <a:pPr>
              <a:spcAft>
                <a:spcPts val="400"/>
              </a:spcAft>
            </a:pPr>
            <a:r>
              <a:rPr b="1" sz="1050">
                <a:solidFill>
                  <a:srgbClr val="FFFFFF"/>
                </a:solidFill>
              </a:rPr>
              <a:t>• Monocular 3D Landmarks: </a:t>
            </a:r>
            <a:r>
              <a:rPr b="0" sz="1050">
                <a:solidFill>
                  <a:srgbClr val="E2E8F0"/>
                </a:solidFill>
              </a:rPr>
              <a:t>MediaPipe extracts 33 landmarks with normalized (x, y) coordinates and relative depth z (depth relative to hip center).</a:t>
            </a:r>
          </a:p>
          <a:p>
            <a:pPr>
              <a:spcAft>
                <a:spcPts val="400"/>
              </a:spcAft>
            </a:pPr>
            <a:r>
              <a:rPr b="1" sz="1050">
                <a:solidFill>
                  <a:srgbClr val="FFFFFF"/>
                </a:solidFill>
              </a:rPr>
              <a:t>• The High-Speed Swing Problem: </a:t>
            </a:r>
            <a:r>
              <a:rPr b="0" sz="1050">
                <a:solidFill>
                  <a:srgbClr val="E2E8F0"/>
                </a:solidFill>
              </a:rPr>
              <a:t>Racket swings exceed 300 km/h, causing visual motion blur that degrades wrist and elbow confidence, dropping overall pose quality to ~0.12.</a:t>
            </a:r>
          </a:p>
          <a:p>
            <a:pPr>
              <a:spcAft>
                <a:spcPts val="400"/>
              </a:spcAft>
            </a:pPr>
            <a:r>
              <a:rPr b="1" sz="1050">
                <a:solidFill>
                  <a:srgbClr val="F59E0B"/>
                </a:solidFill>
              </a:rPr>
              <a:t>• The Quality Decoupling Innovation: </a:t>
            </a:r>
            <a:r>
              <a:rPr b="0" sz="1050">
                <a:solidFill>
                  <a:srgbClr val="E2E8F0"/>
                </a:solidFill>
              </a:rPr>
              <a:t>Originally, overall quality &lt; 0.40 rejected the entire video. We introduced an isolated Lower-Body Quality Metric (Q_lower).</a:t>
            </a:r>
          </a:p>
          <a:p>
            <a:pPr>
              <a:spcAft>
                <a:spcPts val="400"/>
              </a:spcAft>
            </a:pPr>
            <a:r>
              <a:rPr b="1" sz="1050">
                <a:solidFill>
                  <a:srgbClr val="FFFFFF"/>
                </a:solidFill>
              </a:rPr>
              <a:t>• Lower-Body Landmark Subset: </a:t>
            </a:r>
            <a:r>
              <a:rPr b="0" sz="1050">
                <a:solidFill>
                  <a:srgbClr val="E2E8F0"/>
                </a:solidFill>
              </a:rPr>
              <a:t>Evaluates hips (23, 24), knees (25, 26), and ankles (27, 28) independently.</a:t>
            </a:r>
          </a:p>
          <a:p>
            <a:pPr>
              <a:spcAft>
                <a:spcPts val="400"/>
              </a:spcAft>
            </a:pPr>
            <a:r>
              <a:rPr b="1" sz="1050">
                <a:solidFill>
                  <a:srgbClr val="10B981"/>
                </a:solidFill>
              </a:rPr>
              <a:t>• The Result: </a:t>
            </a:r>
            <a:r>
              <a:rPr b="0" sz="1050">
                <a:solidFill>
                  <a:srgbClr val="E2E8F0"/>
                </a:solidFill>
              </a:rPr>
              <a:t>While an athlete's racket arm is blurred (overall quality 0.12), lower-body quality remains high (Q_lower &gt;= 0.85). This prevents false pipeline rejections and safely enables knee/trunk posture evaluation!</a:t>
            </a:r>
          </a:p>
        </p:txBody>
      </p:sp>
      <p:sp>
        <p:nvSpPr>
          <p:cNvPr id="10" name="Rounded Rectangle 9"/>
          <p:cNvSpPr/>
          <p:nvPr/>
        </p:nvSpPr>
        <p:spPr>
          <a:xfrm>
            <a:off x="6248095" y="1508760"/>
            <a:ext cx="52120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2DD4BF"/>
                </a:solidFill>
              </a:defRPr>
            </a:pPr>
            <a:r>
              <a:t>📐 The 10 Anatomical Sequence Features</a:t>
            </a:r>
          </a:p>
          <a:p>
            <a:pPr>
              <a:spcAft>
                <a:spcPts val="400"/>
              </a:spcAft>
            </a:pPr>
            <a:r>
              <a:rPr b="1" sz="1050">
                <a:solidFill>
                  <a:srgbClr val="FFFFFF"/>
                </a:solidFill>
              </a:rPr>
              <a:t>• 1. Lead Knee Flexion Min (θ_knee): </a:t>
            </a:r>
            <a:r>
              <a:rPr b="0" sz="1050">
                <a:solidFill>
                  <a:srgbClr val="E2E8F0"/>
                </a:solidFill>
              </a:rPr>
              <a:t>Deepest angle achieved during plant phase; indicates deceleration cushioning.</a:t>
            </a:r>
          </a:p>
          <a:p>
            <a:pPr>
              <a:spcAft>
                <a:spcPts val="400"/>
              </a:spcAft>
            </a:pPr>
            <a:r>
              <a:rPr b="1" sz="1050">
                <a:solidFill>
                  <a:srgbClr val="FFFFFF"/>
                </a:solidFill>
              </a:rPr>
              <a:t>• 2. Trail Knee Flexion Min: </a:t>
            </a:r>
            <a:r>
              <a:rPr b="0" sz="1050">
                <a:solidFill>
                  <a:srgbClr val="E2E8F0"/>
                </a:solidFill>
              </a:rPr>
              <a:t>Assesses trailing limb stabilization and weight transfer.</a:t>
            </a:r>
          </a:p>
          <a:p>
            <a:pPr>
              <a:spcAft>
                <a:spcPts val="400"/>
              </a:spcAft>
            </a:pPr>
            <a:r>
              <a:rPr b="1" sz="1050">
                <a:solidFill>
                  <a:srgbClr val="FFFFFF"/>
                </a:solidFill>
              </a:rPr>
              <a:t>• 3. Bilateral Knee Asymmetry: </a:t>
            </a:r>
            <a:r>
              <a:rPr b="0" sz="1050">
                <a:solidFill>
                  <a:srgbClr val="E2E8F0"/>
                </a:solidFill>
              </a:rPr>
              <a:t>|θ_left - θ_right|; flags unbalanced ground reaction force absorption.</a:t>
            </a:r>
          </a:p>
          <a:p>
            <a:pPr>
              <a:spcAft>
                <a:spcPts val="400"/>
              </a:spcAft>
            </a:pPr>
            <a:r>
              <a:rPr b="1" sz="1050">
                <a:solidFill>
                  <a:srgbClr val="FFFFFF"/>
                </a:solidFill>
              </a:rPr>
              <a:t>• 4. Max Torso Forward Lean (θ_trunk): </a:t>
            </a:r>
            <a:r>
              <a:rPr b="0" sz="1050">
                <a:solidFill>
                  <a:srgbClr val="E2E8F0"/>
                </a:solidFill>
              </a:rPr>
              <a:t>Inclination of trunk vector relative to vertical; indicates lumbar strain.</a:t>
            </a:r>
          </a:p>
          <a:p>
            <a:pPr>
              <a:spcAft>
                <a:spcPts val="400"/>
              </a:spcAft>
            </a:pPr>
            <a:r>
              <a:rPr b="1" sz="1050">
                <a:solidFill>
                  <a:srgbClr val="FFFFFF"/>
                </a:solidFill>
              </a:rPr>
              <a:t>• 5. Lateral Trunk Tilt: </a:t>
            </a:r>
            <a:r>
              <a:rPr b="0" sz="1050">
                <a:solidFill>
                  <a:srgbClr val="E2E8F0"/>
                </a:solidFill>
              </a:rPr>
              <a:t>Deviation from midline; core instability outside base of support.</a:t>
            </a:r>
          </a:p>
          <a:p>
            <a:pPr>
              <a:spcAft>
                <a:spcPts val="400"/>
              </a:spcAft>
            </a:pPr>
            <a:r>
              <a:rPr b="1" sz="1050">
                <a:solidFill>
                  <a:srgbClr val="FFFFFF"/>
                </a:solidFill>
              </a:rPr>
              <a:t>• 6. Stance Width Ratio: </a:t>
            </a:r>
            <a:r>
              <a:rPr b="0" sz="1050">
                <a:solidFill>
                  <a:srgbClr val="E2E8F0"/>
                </a:solidFill>
              </a:rPr>
              <a:t>Inter-ankle distance divided by hip width; separates lunges from recovery steps.</a:t>
            </a:r>
          </a:p>
          <a:p>
            <a:pPr>
              <a:spcAft>
                <a:spcPts val="400"/>
              </a:spcAft>
            </a:pPr>
            <a:r>
              <a:rPr b="1" sz="1050">
                <a:solidFill>
                  <a:srgbClr val="FFFFFF"/>
                </a:solidFill>
              </a:rPr>
              <a:t>• 7. Vertical Hip Displacement (Δy_hip): </a:t>
            </a:r>
            <a:r>
              <a:rPr b="0" sz="1050">
                <a:solidFill>
                  <a:srgbClr val="E2E8F0"/>
                </a:solidFill>
              </a:rPr>
              <a:t>Differentiates jump smash flight from ground footwork.</a:t>
            </a:r>
          </a:p>
          <a:p>
            <a:pPr>
              <a:spcAft>
                <a:spcPts val="400"/>
              </a:spcAft>
            </a:pPr>
            <a:r>
              <a:rPr b="1" sz="1050">
                <a:solidFill>
                  <a:srgbClr val="FFFFFF"/>
                </a:solidFill>
              </a:rPr>
              <a:t>• 8. Peak Knee Flexion Velocity: </a:t>
            </a:r>
            <a:r>
              <a:rPr b="0" sz="1050">
                <a:solidFill>
                  <a:srgbClr val="E2E8F0"/>
                </a:solidFill>
              </a:rPr>
              <a:t>Angular rate of flexion; indicates landing shock severity.</a:t>
            </a:r>
          </a:p>
          <a:p>
            <a:pPr>
              <a:spcAft>
                <a:spcPts val="400"/>
              </a:spcAft>
            </a:pPr>
            <a:r>
              <a:rPr b="1" sz="1050">
                <a:solidFill>
                  <a:srgbClr val="FFFFFF"/>
                </a:solidFill>
              </a:rPr>
              <a:t>• 9. Torso Angular Rate: </a:t>
            </a:r>
            <a:r>
              <a:rPr b="0" sz="1050">
                <a:solidFill>
                  <a:srgbClr val="E2E8F0"/>
                </a:solidFill>
              </a:rPr>
              <a:t>Rate of trunk tilt change during rapid directional cuts.</a:t>
            </a:r>
          </a:p>
          <a:p>
            <a:pPr>
              <a:spcAft>
                <a:spcPts val="400"/>
              </a:spcAft>
            </a:pPr>
            <a:r>
              <a:rPr b="1" sz="1050">
                <a:solidFill>
                  <a:srgbClr val="FFFFFF"/>
                </a:solidFill>
              </a:rPr>
              <a:t>• 10. Stance Recovery Velocity: </a:t>
            </a:r>
            <a:r>
              <a:rPr b="0" sz="1050">
                <a:solidFill>
                  <a:srgbClr val="E2E8F0"/>
                </a:solidFill>
              </a:rPr>
              <a:t>Time rate of base return back to athletic ready position.</a:t>
            </a:r>
          </a:p>
          <a:p>
            <a:pPr>
              <a:spcAft>
                <a:spcPts val="400"/>
              </a:spcAft>
            </a:pPr>
            <a:r>
              <a:rPr b="1" sz="1050">
                <a:solidFill>
                  <a:srgbClr val="38BDF8"/>
                </a:solidFill>
              </a:rPr>
              <a:t>• Vector Formulation: </a:t>
            </a:r>
            <a:r>
              <a:rPr b="0" sz="1050">
                <a:solidFill>
                  <a:srgbClr val="E2E8F0"/>
                </a:solidFill>
              </a:rPr>
              <a:t>Joint angle computed via 3D dot product: θ = arccos((u·v)/(|u||v|)).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51560"/>
          </a:xfrm>
          <a:prstGeom prst="rect">
            <a:avLst/>
          </a:prstGeom>
          <a:noFill/>
        </p:spPr>
        <p:txBody>
          <a:bodyPr wrap="square" lIns="0" tIns="0" rIns="0" bIns="0">
            <a:spAutoFit/>
          </a:bodyPr>
          <a:lstStyle/>
          <a:p>
            <a:pPr>
              <a:spcAft>
                <a:spcPts val="200"/>
              </a:spcAft>
              <a:defRPr sz="1000" b="1">
                <a:solidFill>
                  <a:srgbClr val="38BDF8"/>
                </a:solidFill>
              </a:defRPr>
            </a:pPr>
            <a:r>
              <a:t>TEMPORAL SEGMENTATION</a:t>
            </a:r>
          </a:p>
          <a:p>
            <a:pPr>
              <a:spcAft>
                <a:spcPts val="200"/>
              </a:spcAft>
              <a:defRPr sz="2100" b="1">
                <a:solidFill>
                  <a:srgbClr val="FFFFFF"/>
                </a:solidFill>
              </a:defRPr>
            </a:pPr>
            <a:r>
              <a:t>Candidate Detection &amp; Keyframe Localization</a:t>
            </a:r>
          </a:p>
          <a:p>
            <a:pPr>
              <a:defRPr sz="1100">
                <a:solidFill>
                  <a:srgbClr val="94A3B8"/>
                </a:solidFill>
              </a:defRPr>
            </a:pPr>
            <a:r>
              <a:t>Isolating critical movement intervals and localizing peak mechanical plant depth.</a:t>
            </a:r>
          </a:p>
        </p:txBody>
      </p:sp>
      <p:sp>
        <p:nvSpPr>
          <p:cNvPr id="5" name="Rectangle 4"/>
          <p:cNvSpPr/>
          <p:nvPr/>
        </p:nvSpPr>
        <p:spPr>
          <a:xfrm>
            <a:off x="731520" y="641908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64808"/>
            <a:ext cx="4572000" cy="292608"/>
          </a:xfrm>
          <a:prstGeom prst="rect">
            <a:avLst/>
          </a:prstGeom>
          <a:noFill/>
        </p:spPr>
        <p:txBody>
          <a:bodyPr wrap="none" lIns="0" tIns="0" rIns="0" bIns="0">
            <a:spAutoFit/>
          </a:bodyPr>
          <a:lstStyle/>
          <a:p>
            <a:pPr>
              <a:defRPr sz="950">
                <a:solidFill>
                  <a:srgbClr val="94A3B8"/>
                </a:solidFill>
              </a:defRPr>
            </a:pPr>
            <a:r>
              <a:t>Badminton Posture AI | Final B.Tech Capstone Defense</a:t>
            </a:r>
          </a:p>
        </p:txBody>
      </p:sp>
      <p:sp>
        <p:nvSpPr>
          <p:cNvPr id="7" name="TextBox 6"/>
          <p:cNvSpPr txBox="1"/>
          <p:nvPr/>
        </p:nvSpPr>
        <p:spPr>
          <a:xfrm>
            <a:off x="4114800" y="6464808"/>
            <a:ext cx="5029200" cy="292608"/>
          </a:xfrm>
          <a:prstGeom prst="rect">
            <a:avLst/>
          </a:prstGeom>
          <a:noFill/>
        </p:spPr>
        <p:txBody>
          <a:bodyPr wrap="none" lIns="0" tIns="0" rIns="0" bIns="0">
            <a:spAutoFit/>
          </a:bodyPr>
          <a:lstStyle/>
          <a:p>
            <a:pPr algn="ctr">
              <a:defRPr sz="900">
                <a:solidFill>
                  <a:srgbClr val="F59E0B"/>
                </a:solidFill>
              </a:defRPr>
            </a:pPr>
            <a:r>
              <a:t>⚠️ Research Prototype — Observational Screening Score (Not Clinical Diagnosis)</a:t>
            </a:r>
          </a:p>
        </p:txBody>
      </p:sp>
      <p:sp>
        <p:nvSpPr>
          <p:cNvPr id="8" name="TextBox 7"/>
          <p:cNvSpPr txBox="1"/>
          <p:nvPr/>
        </p:nvSpPr>
        <p:spPr>
          <a:xfrm>
            <a:off x="9601200" y="6464808"/>
            <a:ext cx="1858975" cy="292608"/>
          </a:xfrm>
          <a:prstGeom prst="rect">
            <a:avLst/>
          </a:prstGeom>
          <a:noFill/>
        </p:spPr>
        <p:txBody>
          <a:bodyPr wrap="none" lIns="0" tIns="0" rIns="0" bIns="0">
            <a:spAutoFit/>
          </a:bodyPr>
          <a:lstStyle/>
          <a:p>
            <a:pPr algn="r">
              <a:defRPr sz="950" b="1">
                <a:solidFill>
                  <a:srgbClr val="38BDF8"/>
                </a:solidFill>
              </a:defRPr>
            </a:pPr>
            <a:r>
              <a:t>Slide 6 of 12</a:t>
            </a:r>
          </a:p>
        </p:txBody>
      </p:sp>
      <p:sp>
        <p:nvSpPr>
          <p:cNvPr id="9" name="Rounded Rectangle 8"/>
          <p:cNvSpPr/>
          <p:nvPr/>
        </p:nvSpPr>
        <p:spPr>
          <a:xfrm>
            <a:off x="731520" y="1508760"/>
            <a:ext cx="52120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38BDF8"/>
                </a:solidFill>
              </a:defRPr>
            </a:pPr>
            <a:r>
              <a:t>🔍 Multi-Signal Candidate Detection</a:t>
            </a:r>
          </a:p>
          <a:p>
            <a:pPr>
              <a:spcAft>
                <a:spcPts val="400"/>
              </a:spcAft>
            </a:pPr>
            <a:r>
              <a:rPr b="1" sz="1050">
                <a:solidFill>
                  <a:srgbClr val="FFFFFF"/>
                </a:solidFill>
              </a:rPr>
              <a:t>• Continuous Sliding Window: </a:t>
            </a:r>
            <a:r>
              <a:rPr b="0" sz="1050">
                <a:solidFill>
                  <a:srgbClr val="E2E8F0"/>
                </a:solidFill>
              </a:rPr>
              <a:t>Buffers sequential video frames and computes running kinematic derivatives.</a:t>
            </a:r>
          </a:p>
          <a:p>
            <a:pPr>
              <a:spcAft>
                <a:spcPts val="400"/>
              </a:spcAft>
            </a:pPr>
            <a:r>
              <a:rPr b="1" sz="1050">
                <a:solidFill>
                  <a:srgbClr val="FFFFFF"/>
                </a:solidFill>
              </a:rPr>
              <a:t>• Vertical Hip Elevation (Δy_hip &gt;= 0.04): </a:t>
            </a:r>
            <a:r>
              <a:rPr b="0" sz="1050">
                <a:solidFill>
                  <a:srgbClr val="E2E8F0"/>
                </a:solidFill>
              </a:rPr>
              <a:t>Triggers jump smash candidate intervals (takeoff, apex flight, and landing impact).</a:t>
            </a:r>
          </a:p>
          <a:p>
            <a:pPr>
              <a:spcAft>
                <a:spcPts val="400"/>
              </a:spcAft>
            </a:pPr>
            <a:r>
              <a:rPr b="1" sz="1050">
                <a:solidFill>
                  <a:srgbClr val="FFFFFF"/>
                </a:solidFill>
              </a:rPr>
              <a:t>• Stance Width Ratio (&gt; 1.8x Hip Width): </a:t>
            </a:r>
            <a:r>
              <a:rPr b="0" sz="1050">
                <a:solidFill>
                  <a:srgbClr val="E2E8F0"/>
                </a:solidFill>
              </a:rPr>
              <a:t>Triggers forward lunge proposals by detecting wide base elongation during net recovery.</a:t>
            </a:r>
          </a:p>
          <a:p>
            <a:pPr>
              <a:spcAft>
                <a:spcPts val="400"/>
              </a:spcAft>
            </a:pPr>
            <a:r>
              <a:rPr b="1" sz="1050">
                <a:solidFill>
                  <a:srgbClr val="FFFFFF"/>
                </a:solidFill>
              </a:rPr>
              <a:t>• Lateral Acceleration &amp; Trunk Lean (θ_trunk &gt; 18°): </a:t>
            </a:r>
            <a:r>
              <a:rPr b="0" sz="1050">
                <a:solidFill>
                  <a:srgbClr val="E2E8F0"/>
                </a:solidFill>
              </a:rPr>
              <a:t>Triggers change-of-direction cuts when the player brakes sharply to reverse court travel.</a:t>
            </a:r>
          </a:p>
          <a:p>
            <a:pPr>
              <a:spcAft>
                <a:spcPts val="400"/>
              </a:spcAft>
            </a:pPr>
            <a:r>
              <a:rPr b="1" sz="1050">
                <a:solidFill>
                  <a:srgbClr val="FFFFFF"/>
                </a:solidFill>
              </a:rPr>
              <a:t>• Temporal Coalescing: </a:t>
            </a:r>
            <a:r>
              <a:rPr b="0" sz="1050">
                <a:solidFill>
                  <a:srgbClr val="E2E8F0"/>
                </a:solidFill>
              </a:rPr>
              <a:t>Merges overlapping detections into coherent event intervals (typically 0.8 to 2.5 seconds).</a:t>
            </a:r>
          </a:p>
          <a:p>
            <a:pPr>
              <a:spcAft>
                <a:spcPts val="400"/>
              </a:spcAft>
            </a:pPr>
            <a:r>
              <a:rPr b="1" sz="1050">
                <a:solidFill>
                  <a:srgbClr val="FFFFFF"/>
                </a:solidFill>
              </a:rPr>
              <a:t>• Subclip Extraction: </a:t>
            </a:r>
            <a:r>
              <a:rPr b="0" sz="1050">
                <a:solidFill>
                  <a:srgbClr val="E2E8F0"/>
                </a:solidFill>
              </a:rPr>
              <a:t>Slices candidate clips for human review and offline ML feature extraction.</a:t>
            </a:r>
          </a:p>
        </p:txBody>
      </p:sp>
      <p:sp>
        <p:nvSpPr>
          <p:cNvPr id="10" name="Rounded Rectangle 9"/>
          <p:cNvSpPr/>
          <p:nvPr/>
        </p:nvSpPr>
        <p:spPr>
          <a:xfrm>
            <a:off x="6248095" y="1508760"/>
            <a:ext cx="521208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2DD4BF"/>
                </a:solidFill>
              </a:defRPr>
            </a:pPr>
            <a:r>
              <a:t>🎯 Keyframe Selection (_select_representative_frame)</a:t>
            </a:r>
          </a:p>
          <a:p>
            <a:pPr>
              <a:spcAft>
                <a:spcPts val="400"/>
              </a:spcAft>
            </a:pPr>
            <a:r>
              <a:rPr b="1" sz="1050">
                <a:solidFill>
                  <a:srgbClr val="F59E0B"/>
                </a:solidFill>
              </a:rPr>
              <a:t>• The Failure of Mathematical Midpoint: </a:t>
            </a:r>
            <a:r>
              <a:rPr b="0" sz="1050">
                <a:solidFill>
                  <a:srgbClr val="E2E8F0"/>
                </a:solidFill>
              </a:rPr>
              <a:t>Early prototypes selected the mathematical center of the clip (t_mid). In jump smashes, flight takes 75% of the clip and the landing occurs in the final 20%. Midpoint showed the player floating mid-air!</a:t>
            </a:r>
          </a:p>
          <a:p>
            <a:pPr>
              <a:spcAft>
                <a:spcPts val="400"/>
              </a:spcAft>
            </a:pPr>
            <a:r>
              <a:rPr b="1" sz="1050">
                <a:solidFill>
                  <a:srgbClr val="10B981"/>
                </a:solidFill>
              </a:rPr>
              <a:t>• Our Plant-Depth Keyframe Algorithm: </a:t>
            </a:r>
            <a:r>
              <a:rPr b="0" sz="1050">
                <a:solidFill>
                  <a:srgbClr val="E2E8F0"/>
                </a:solidFill>
              </a:rPr>
              <a:t>Applies local median smoothing across knee flexion trajectories and hip elevations within the candidate window.</a:t>
            </a:r>
          </a:p>
          <a:p>
            <a:pPr>
              <a:spcAft>
                <a:spcPts val="400"/>
              </a:spcAft>
            </a:pPr>
            <a:r>
              <a:rPr b="1" sz="1050">
                <a:solidFill>
                  <a:srgbClr val="FFFFFF"/>
                </a:solidFill>
              </a:rPr>
              <a:t>• Peak Deceleration Localization: </a:t>
            </a:r>
            <a:r>
              <a:rPr b="0" sz="1050">
                <a:solidFill>
                  <a:srgbClr val="E2E8F0"/>
                </a:solidFill>
              </a:rPr>
              <a:t>Automatically isolates the exact split-second of maximum ground plant depth or landing impact.</a:t>
            </a:r>
          </a:p>
          <a:p>
            <a:pPr>
              <a:spcAft>
                <a:spcPts val="400"/>
              </a:spcAft>
            </a:pPr>
            <a:r>
              <a:rPr b="1" sz="1050">
                <a:solidFill>
                  <a:srgbClr val="FFFFFF"/>
                </a:solidFill>
              </a:rPr>
              <a:t>• Missing Pose Resilience: </a:t>
            </a:r>
            <a:r>
              <a:rPr b="0" sz="1050">
                <a:solidFill>
                  <a:srgbClr val="E2E8F0"/>
                </a:solidFill>
              </a:rPr>
              <a:t>Handles intermittent tracking dropouts gracefully without crashing or selecting corrupted frames.</a:t>
            </a:r>
          </a:p>
          <a:p>
            <a:pPr>
              <a:spcAft>
                <a:spcPts val="400"/>
              </a:spcAft>
            </a:pPr>
            <a:r>
              <a:rPr b="1" sz="1050">
                <a:solidFill>
                  <a:srgbClr val="FFFFFF"/>
                </a:solidFill>
              </a:rPr>
              <a:t>• Unit-Tested Robustness: </a:t>
            </a:r>
            <a:r>
              <a:rPr b="0" sz="1050">
                <a:solidFill>
                  <a:srgbClr val="E2E8F0"/>
                </a:solidFill>
              </a:rPr>
              <a:t>Verified across multiple test modules (test_candidate_detector.py, test_keyframe_selection.py) with 100% test pass rate.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51560"/>
          </a:xfrm>
          <a:prstGeom prst="rect">
            <a:avLst/>
          </a:prstGeom>
          <a:noFill/>
        </p:spPr>
        <p:txBody>
          <a:bodyPr wrap="square" lIns="0" tIns="0" rIns="0" bIns="0">
            <a:spAutoFit/>
          </a:bodyPr>
          <a:lstStyle/>
          <a:p>
            <a:pPr>
              <a:spcAft>
                <a:spcPts val="200"/>
              </a:spcAft>
              <a:defRPr sz="1000" b="1">
                <a:solidFill>
                  <a:srgbClr val="38BDF8"/>
                </a:solidFill>
              </a:defRPr>
            </a:pPr>
            <a:r>
              <a:t>ACTION TAXONOMY</a:t>
            </a:r>
          </a:p>
          <a:p>
            <a:pPr>
              <a:spcAft>
                <a:spcPts val="200"/>
              </a:spcAft>
              <a:defRPr sz="2100" b="1">
                <a:solidFill>
                  <a:srgbClr val="FFFFFF"/>
                </a:solidFill>
              </a:defRPr>
            </a:pPr>
            <a:r>
              <a:t>Active Movement Classes &amp; Class Refinement Rationale</a:t>
            </a:r>
          </a:p>
          <a:p>
            <a:pPr>
              <a:defRPr sz="1100">
                <a:solidFill>
                  <a:srgbClr val="94A3B8"/>
                </a:solidFill>
              </a:defRPr>
            </a:pPr>
            <a:r>
              <a:t>Focusing on three high-risk athletic actions while pruning ambiguous, under-sampled classes.</a:t>
            </a:r>
          </a:p>
        </p:txBody>
      </p:sp>
      <p:sp>
        <p:nvSpPr>
          <p:cNvPr id="5" name="Rectangle 4"/>
          <p:cNvSpPr/>
          <p:nvPr/>
        </p:nvSpPr>
        <p:spPr>
          <a:xfrm>
            <a:off x="731520" y="641908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64808"/>
            <a:ext cx="4572000" cy="292608"/>
          </a:xfrm>
          <a:prstGeom prst="rect">
            <a:avLst/>
          </a:prstGeom>
          <a:noFill/>
        </p:spPr>
        <p:txBody>
          <a:bodyPr wrap="none" lIns="0" tIns="0" rIns="0" bIns="0">
            <a:spAutoFit/>
          </a:bodyPr>
          <a:lstStyle/>
          <a:p>
            <a:pPr>
              <a:defRPr sz="950">
                <a:solidFill>
                  <a:srgbClr val="94A3B8"/>
                </a:solidFill>
              </a:defRPr>
            </a:pPr>
            <a:r>
              <a:t>Badminton Posture AI | Final B.Tech Capstone Defense</a:t>
            </a:r>
          </a:p>
        </p:txBody>
      </p:sp>
      <p:sp>
        <p:nvSpPr>
          <p:cNvPr id="7" name="TextBox 6"/>
          <p:cNvSpPr txBox="1"/>
          <p:nvPr/>
        </p:nvSpPr>
        <p:spPr>
          <a:xfrm>
            <a:off x="4114800" y="6464808"/>
            <a:ext cx="5029200" cy="292608"/>
          </a:xfrm>
          <a:prstGeom prst="rect">
            <a:avLst/>
          </a:prstGeom>
          <a:noFill/>
        </p:spPr>
        <p:txBody>
          <a:bodyPr wrap="none" lIns="0" tIns="0" rIns="0" bIns="0">
            <a:spAutoFit/>
          </a:bodyPr>
          <a:lstStyle/>
          <a:p>
            <a:pPr algn="ctr">
              <a:defRPr sz="900">
                <a:solidFill>
                  <a:srgbClr val="F59E0B"/>
                </a:solidFill>
              </a:defRPr>
            </a:pPr>
            <a:r>
              <a:t>⚠️ Research Prototype — Observational Screening Score (Not Clinical Diagnosis)</a:t>
            </a:r>
          </a:p>
        </p:txBody>
      </p:sp>
      <p:sp>
        <p:nvSpPr>
          <p:cNvPr id="8" name="TextBox 7"/>
          <p:cNvSpPr txBox="1"/>
          <p:nvPr/>
        </p:nvSpPr>
        <p:spPr>
          <a:xfrm>
            <a:off x="9601200" y="6464808"/>
            <a:ext cx="1858975" cy="292608"/>
          </a:xfrm>
          <a:prstGeom prst="rect">
            <a:avLst/>
          </a:prstGeom>
          <a:noFill/>
        </p:spPr>
        <p:txBody>
          <a:bodyPr wrap="none" lIns="0" tIns="0" rIns="0" bIns="0">
            <a:spAutoFit/>
          </a:bodyPr>
          <a:lstStyle/>
          <a:p>
            <a:pPr algn="r">
              <a:defRPr sz="950" b="1">
                <a:solidFill>
                  <a:srgbClr val="38BDF8"/>
                </a:solidFill>
              </a:defRPr>
            </a:pPr>
            <a:r>
              <a:t>Slide 7 of 12</a:t>
            </a:r>
          </a:p>
        </p:txBody>
      </p:sp>
      <p:sp>
        <p:nvSpPr>
          <p:cNvPr id="9" name="Rounded Rectangle 8"/>
          <p:cNvSpPr/>
          <p:nvPr/>
        </p:nvSpPr>
        <p:spPr>
          <a:xfrm>
            <a:off x="731520" y="1508760"/>
            <a:ext cx="3337560" cy="3337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38BDF8"/>
                </a:solidFill>
              </a:defRPr>
            </a:pPr>
            <a:r>
              <a:t>🦵 LUNGE (Active)</a:t>
            </a:r>
          </a:p>
          <a:p>
            <a:pPr>
              <a:spcAft>
                <a:spcPts val="400"/>
              </a:spcAft>
            </a:pPr>
            <a:r>
              <a:rPr b="1" sz="1050">
                <a:solidFill>
                  <a:srgbClr val="FFFFFF"/>
                </a:solidFill>
              </a:rPr>
              <a:t>• Biomechanical Definition: </a:t>
            </a:r>
            <a:r>
              <a:rPr b="0" sz="1050">
                <a:solidFill>
                  <a:srgbClr val="E2E8F0"/>
                </a:solidFill>
              </a:rPr>
              <a:t>Deep forward or diagonal step with rapid knee deceleration to retrieve low net shots.</a:t>
            </a:r>
          </a:p>
          <a:p>
            <a:pPr>
              <a:spcAft>
                <a:spcPts val="400"/>
              </a:spcAft>
            </a:pPr>
            <a:r>
              <a:rPr b="1" sz="1050">
                <a:solidFill>
                  <a:srgbClr val="FFFFFF"/>
                </a:solidFill>
              </a:rPr>
              <a:t>• Clinical Importance: </a:t>
            </a:r>
            <a:r>
              <a:rPr b="0" sz="1050">
                <a:solidFill>
                  <a:srgbClr val="E2E8F0"/>
                </a:solidFill>
              </a:rPr>
              <a:t>Extreme eccentric quadriceps loading; high patellofemoral compressive force.</a:t>
            </a:r>
          </a:p>
          <a:p>
            <a:pPr>
              <a:spcAft>
                <a:spcPts val="400"/>
              </a:spcAft>
            </a:pPr>
            <a:r>
              <a:rPr b="1" sz="1050">
                <a:solidFill>
                  <a:srgbClr val="FFFFFF"/>
                </a:solidFill>
              </a:rPr>
              <a:t>• Key Identifiers: </a:t>
            </a:r>
            <a:r>
              <a:rPr b="0" sz="1050">
                <a:solidFill>
                  <a:srgbClr val="E2E8F0"/>
                </a:solidFill>
              </a:rPr>
              <a:t>Stance width &gt; 1.8× hip width, lead knee flexion 90°–120°, forward trunk inclination.</a:t>
            </a:r>
          </a:p>
          <a:p>
            <a:pPr>
              <a:spcAft>
                <a:spcPts val="400"/>
              </a:spcAft>
            </a:pPr>
            <a:r>
              <a:rPr b="1" sz="1050">
                <a:solidFill>
                  <a:srgbClr val="FFFFFF"/>
                </a:solidFill>
              </a:rPr>
              <a:t>• Dataset Count: </a:t>
            </a:r>
            <a:r>
              <a:rPr b="0" sz="1050">
                <a:solidFill>
                  <a:srgbClr val="E2E8F0"/>
                </a:solidFill>
              </a:rPr>
              <a:t>44 verified sequence events (27.3% of reviewed dataset).</a:t>
            </a:r>
          </a:p>
        </p:txBody>
      </p:sp>
      <p:sp>
        <p:nvSpPr>
          <p:cNvPr id="10" name="Rounded Rectangle 9"/>
          <p:cNvSpPr/>
          <p:nvPr/>
        </p:nvSpPr>
        <p:spPr>
          <a:xfrm>
            <a:off x="4389120" y="1508760"/>
            <a:ext cx="3337560" cy="3337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2DD4BF"/>
                </a:solidFill>
              </a:defRPr>
            </a:pPr>
            <a:r>
              <a:t>🏸 SMASH_LANDING (Active)</a:t>
            </a:r>
          </a:p>
          <a:p>
            <a:pPr>
              <a:spcAft>
                <a:spcPts val="400"/>
              </a:spcAft>
            </a:pPr>
            <a:r>
              <a:rPr b="1" sz="1050">
                <a:solidFill>
                  <a:srgbClr val="FFFFFF"/>
                </a:solidFill>
              </a:rPr>
              <a:t>• Biomechanical Definition: </a:t>
            </a:r>
            <a:r>
              <a:rPr b="0" sz="1050">
                <a:solidFill>
                  <a:srgbClr val="E2E8F0"/>
                </a:solidFill>
              </a:rPr>
              <a:t>Ground impact deceleration following an overhead jump smash from the rear court.</a:t>
            </a:r>
          </a:p>
          <a:p>
            <a:pPr>
              <a:spcAft>
                <a:spcPts val="400"/>
              </a:spcAft>
            </a:pPr>
            <a:r>
              <a:rPr b="1" sz="1050">
                <a:solidFill>
                  <a:srgbClr val="FFFFFF"/>
                </a:solidFill>
              </a:rPr>
              <a:t>• Clinical Importance: </a:t>
            </a:r>
            <a:r>
              <a:rPr b="0" sz="1050">
                <a:solidFill>
                  <a:srgbClr val="E2E8F0"/>
                </a:solidFill>
              </a:rPr>
              <a:t>Peak ground reaction force (2.5–3.0× BW); dynamic knee valgus and landing shock.</a:t>
            </a:r>
          </a:p>
          <a:p>
            <a:pPr>
              <a:spcAft>
                <a:spcPts val="400"/>
              </a:spcAft>
            </a:pPr>
            <a:r>
              <a:rPr b="1" sz="1050">
                <a:solidFill>
                  <a:srgbClr val="FFFFFF"/>
                </a:solidFill>
              </a:rPr>
              <a:t>• Key Identifiers: </a:t>
            </a:r>
            <a:r>
              <a:rPr b="0" sz="1050">
                <a:solidFill>
                  <a:srgbClr val="E2E8F0"/>
                </a:solidFill>
              </a:rPr>
              <a:t>Vertical hip displacement Δy &gt;= 0.04, rapid bilateral touchdown, high elbow cocking.</a:t>
            </a:r>
          </a:p>
          <a:p>
            <a:pPr>
              <a:spcAft>
                <a:spcPts val="400"/>
              </a:spcAft>
            </a:pPr>
            <a:r>
              <a:rPr b="1" sz="1050">
                <a:solidFill>
                  <a:srgbClr val="FFFFFF"/>
                </a:solidFill>
              </a:rPr>
              <a:t>• Dataset Count: </a:t>
            </a:r>
            <a:r>
              <a:rPr b="0" sz="1050">
                <a:solidFill>
                  <a:srgbClr val="E2E8F0"/>
                </a:solidFill>
              </a:rPr>
              <a:t>72 verified sequence events (44.7% of reviewed dataset).</a:t>
            </a:r>
          </a:p>
        </p:txBody>
      </p:sp>
      <p:sp>
        <p:nvSpPr>
          <p:cNvPr id="11" name="Rounded Rectangle 10"/>
          <p:cNvSpPr/>
          <p:nvPr/>
        </p:nvSpPr>
        <p:spPr>
          <a:xfrm>
            <a:off x="8046720" y="1508760"/>
            <a:ext cx="3413455" cy="3337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F59E0B"/>
                </a:solidFill>
              </a:defRPr>
            </a:pPr>
            <a:r>
              <a:t>🔄 CHANGE_OF_DIRECTION (Active)</a:t>
            </a:r>
          </a:p>
          <a:p>
            <a:pPr>
              <a:spcAft>
                <a:spcPts val="400"/>
              </a:spcAft>
            </a:pPr>
            <a:r>
              <a:rPr b="1" sz="1050">
                <a:solidFill>
                  <a:srgbClr val="FFFFFF"/>
                </a:solidFill>
              </a:rPr>
              <a:t>• Biomechanical Definition: </a:t>
            </a:r>
            <a:r>
              <a:rPr b="0" sz="1050">
                <a:solidFill>
                  <a:srgbClr val="E2E8F0"/>
                </a:solidFill>
              </a:rPr>
              <a:t>Lateral push-off plant and aggressive directional cut to reverse court travel.</a:t>
            </a:r>
          </a:p>
          <a:p>
            <a:pPr>
              <a:spcAft>
                <a:spcPts val="400"/>
              </a:spcAft>
            </a:pPr>
            <a:r>
              <a:rPr b="1" sz="1050">
                <a:solidFill>
                  <a:srgbClr val="FFFFFF"/>
                </a:solidFill>
              </a:rPr>
              <a:t>• Clinical Importance: </a:t>
            </a:r>
            <a:r>
              <a:rPr b="0" sz="1050">
                <a:solidFill>
                  <a:srgbClr val="E2E8F0"/>
                </a:solidFill>
              </a:rPr>
              <a:t>Primary non-contact ACL injury mechanism; multi-planar knee shear loading.</a:t>
            </a:r>
          </a:p>
          <a:p>
            <a:pPr>
              <a:spcAft>
                <a:spcPts val="400"/>
              </a:spcAft>
            </a:pPr>
            <a:r>
              <a:rPr b="1" sz="1050">
                <a:solidFill>
                  <a:srgbClr val="FFFFFF"/>
                </a:solidFill>
              </a:rPr>
              <a:t>• Key Identifiers: </a:t>
            </a:r>
            <a:r>
              <a:rPr b="0" sz="1050">
                <a:solidFill>
                  <a:srgbClr val="E2E8F0"/>
                </a:solidFill>
              </a:rPr>
              <a:t>Lateral trunk lean outside base, high braking plant angle, rapid rebound acceleration.</a:t>
            </a:r>
          </a:p>
          <a:p>
            <a:pPr>
              <a:spcAft>
                <a:spcPts val="400"/>
              </a:spcAft>
            </a:pPr>
            <a:r>
              <a:rPr b="1" sz="1050">
                <a:solidFill>
                  <a:srgbClr val="FFFFFF"/>
                </a:solidFill>
              </a:rPr>
              <a:t>• Dataset Count: </a:t>
            </a:r>
            <a:r>
              <a:rPr b="0" sz="1050">
                <a:solidFill>
                  <a:srgbClr val="E2E8F0"/>
                </a:solidFill>
              </a:rPr>
              <a:t>45 verified sequence events (28.0% of reviewed dataset).</a:t>
            </a:r>
          </a:p>
        </p:txBody>
      </p:sp>
      <p:sp>
        <p:nvSpPr>
          <p:cNvPr id="12" name="Rounded Rectangle 11"/>
          <p:cNvSpPr/>
          <p:nvPr/>
        </p:nvSpPr>
        <p:spPr>
          <a:xfrm>
            <a:off x="731520" y="5029200"/>
            <a:ext cx="10728655" cy="1188720"/>
          </a:xfrm>
          <a:prstGeom prst="roundRect">
            <a:avLst/>
          </a:prstGeom>
          <a:solidFill>
            <a:srgbClr val="1822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334155"/>
                </a:solidFill>
              </a:defRPr>
            </a:pPr>
            <a:r>
              <a:t>⏸️ Retired &amp; Deferred Classes: Scissor Jump &amp; Footwork Split Step</a:t>
            </a:r>
          </a:p>
          <a:p>
            <a:pPr>
              <a:spcAft>
                <a:spcPts val="400"/>
              </a:spcAft>
            </a:pPr>
            <a:r>
              <a:rPr b="1" sz="1050">
                <a:solidFill>
                  <a:srgbClr val="F59E0B"/>
                </a:solidFill>
              </a:rPr>
              <a:t>• SCISSOR_JUMP (Retired from active scoring): </a:t>
            </a:r>
            <a:r>
              <a:rPr b="0" sz="1050">
                <a:solidFill>
                  <a:srgbClr val="E2E8F0"/>
                </a:solidFill>
              </a:rPr>
              <a:t>Extreme kinematic overlap with changes of direction; high misclassification; sample sparsity in initial dataset (N &lt; 5).</a:t>
            </a:r>
          </a:p>
          <a:p>
            <a:pPr>
              <a:spcAft>
                <a:spcPts val="400"/>
              </a:spcAft>
            </a:pPr>
            <a:r>
              <a:rPr b="1" sz="1050">
                <a:solidFill>
                  <a:srgbClr val="F59E0B"/>
                </a:solidFill>
              </a:rPr>
              <a:t>• FOOTWORK_SPLIT_STEP (Retired from active scoring): </a:t>
            </a:r>
            <a:r>
              <a:rPr b="0" sz="1050">
                <a:solidFill>
                  <a:srgbClr val="E2E8F0"/>
                </a:solidFill>
              </a:rPr>
              <a:t>Preparatory low-amplitude bounce step with negligible injury risk; maintaining it diluted classifier precision on high-impact actions.</a:t>
            </a:r>
          </a:p>
          <a:p>
            <a:pPr>
              <a:spcAft>
                <a:spcPts val="400"/>
              </a:spcAft>
            </a:pPr>
            <a:r>
              <a:rPr b="1" sz="1050">
                <a:solidFill>
                  <a:srgbClr val="10B981"/>
                </a:solidFill>
              </a:rPr>
              <a:t>• Engineering Rationale: </a:t>
            </a:r>
            <a:r>
              <a:rPr b="0" sz="1050">
                <a:solidFill>
                  <a:srgbClr val="E2E8F0"/>
                </a:solidFill>
              </a:rPr>
              <a:t>Pruning retired classes improved model precision on our 3 active high-risk classes without compromising system integrity.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51560"/>
          </a:xfrm>
          <a:prstGeom prst="rect">
            <a:avLst/>
          </a:prstGeom>
          <a:noFill/>
        </p:spPr>
        <p:txBody>
          <a:bodyPr wrap="square" lIns="0" tIns="0" rIns="0" bIns="0">
            <a:spAutoFit/>
          </a:bodyPr>
          <a:lstStyle/>
          <a:p>
            <a:pPr>
              <a:spcAft>
                <a:spcPts val="200"/>
              </a:spcAft>
              <a:defRPr sz="1000" b="1">
                <a:solidFill>
                  <a:srgbClr val="38BDF8"/>
                </a:solidFill>
              </a:defRPr>
            </a:pPr>
            <a:r>
              <a:t>DATASET INTEGRITY</a:t>
            </a:r>
          </a:p>
          <a:p>
            <a:pPr>
              <a:spcAft>
                <a:spcPts val="200"/>
              </a:spcAft>
              <a:defRPr sz="2100" b="1">
                <a:solidFill>
                  <a:srgbClr val="FFFFFF"/>
                </a:solidFill>
              </a:defRPr>
            </a:pPr>
            <a:r>
              <a:t>Dataset Staging Funnel &amp; Rigorous Human Review</a:t>
            </a:r>
          </a:p>
          <a:p>
            <a:pPr>
              <a:defRPr sz="1100">
                <a:solidFill>
                  <a:srgbClr val="94A3B8"/>
                </a:solidFill>
              </a:defRPr>
            </a:pPr>
            <a:r>
              <a:t>A transparent human-in-the-loop annotation pipeline with strict anti-data-pollution safeguards.</a:t>
            </a:r>
          </a:p>
        </p:txBody>
      </p:sp>
      <p:sp>
        <p:nvSpPr>
          <p:cNvPr id="5" name="Rectangle 4"/>
          <p:cNvSpPr/>
          <p:nvPr/>
        </p:nvSpPr>
        <p:spPr>
          <a:xfrm>
            <a:off x="731520" y="641908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64808"/>
            <a:ext cx="4572000" cy="292608"/>
          </a:xfrm>
          <a:prstGeom prst="rect">
            <a:avLst/>
          </a:prstGeom>
          <a:noFill/>
        </p:spPr>
        <p:txBody>
          <a:bodyPr wrap="none" lIns="0" tIns="0" rIns="0" bIns="0">
            <a:spAutoFit/>
          </a:bodyPr>
          <a:lstStyle/>
          <a:p>
            <a:pPr>
              <a:defRPr sz="950">
                <a:solidFill>
                  <a:srgbClr val="94A3B8"/>
                </a:solidFill>
              </a:defRPr>
            </a:pPr>
            <a:r>
              <a:t>Badminton Posture AI | Final B.Tech Capstone Defense</a:t>
            </a:r>
          </a:p>
        </p:txBody>
      </p:sp>
      <p:sp>
        <p:nvSpPr>
          <p:cNvPr id="7" name="TextBox 6"/>
          <p:cNvSpPr txBox="1"/>
          <p:nvPr/>
        </p:nvSpPr>
        <p:spPr>
          <a:xfrm>
            <a:off x="4114800" y="6464808"/>
            <a:ext cx="5029200" cy="292608"/>
          </a:xfrm>
          <a:prstGeom prst="rect">
            <a:avLst/>
          </a:prstGeom>
          <a:noFill/>
        </p:spPr>
        <p:txBody>
          <a:bodyPr wrap="none" lIns="0" tIns="0" rIns="0" bIns="0">
            <a:spAutoFit/>
          </a:bodyPr>
          <a:lstStyle/>
          <a:p>
            <a:pPr algn="ctr">
              <a:defRPr sz="900">
                <a:solidFill>
                  <a:srgbClr val="F59E0B"/>
                </a:solidFill>
              </a:defRPr>
            </a:pPr>
            <a:r>
              <a:t>⚠️ Research Prototype — Observational Screening Score (Not Clinical Diagnosis)</a:t>
            </a:r>
          </a:p>
        </p:txBody>
      </p:sp>
      <p:sp>
        <p:nvSpPr>
          <p:cNvPr id="8" name="TextBox 7"/>
          <p:cNvSpPr txBox="1"/>
          <p:nvPr/>
        </p:nvSpPr>
        <p:spPr>
          <a:xfrm>
            <a:off x="9601200" y="6464808"/>
            <a:ext cx="1858975" cy="292608"/>
          </a:xfrm>
          <a:prstGeom prst="rect">
            <a:avLst/>
          </a:prstGeom>
          <a:noFill/>
        </p:spPr>
        <p:txBody>
          <a:bodyPr wrap="none" lIns="0" tIns="0" rIns="0" bIns="0">
            <a:spAutoFit/>
          </a:bodyPr>
          <a:lstStyle/>
          <a:p>
            <a:pPr algn="r">
              <a:defRPr sz="950" b="1">
                <a:solidFill>
                  <a:srgbClr val="38BDF8"/>
                </a:solidFill>
              </a:defRPr>
            </a:pPr>
            <a:r>
              <a:t>Slide 8 of 12</a:t>
            </a:r>
          </a:p>
        </p:txBody>
      </p:sp>
      <p:sp>
        <p:nvSpPr>
          <p:cNvPr id="9" name="Rounded Rectangle 8"/>
          <p:cNvSpPr/>
          <p:nvPr/>
        </p:nvSpPr>
        <p:spPr>
          <a:xfrm>
            <a:off x="731520" y="1508760"/>
            <a:ext cx="33375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38BDF8"/>
                </a:solidFill>
              </a:defRPr>
            </a:pPr>
            <a:r>
              <a:t>📊 The Staging Funnel</a:t>
            </a:r>
          </a:p>
          <a:p>
            <a:pPr>
              <a:spcAft>
                <a:spcPts val="400"/>
              </a:spcAft>
            </a:pPr>
            <a:r>
              <a:rPr b="1" sz="1050">
                <a:solidFill>
                  <a:srgbClr val="FFFFFF"/>
                </a:solidFill>
              </a:rPr>
              <a:t>• Raw Match Footage: </a:t>
            </a:r>
            <a:r>
              <a:rPr b="0" sz="1050">
                <a:solidFill>
                  <a:srgbClr val="E2E8F0"/>
                </a:solidFill>
              </a:rPr>
              <a:t>Recorded across 6 distinct players in natural court environments.</a:t>
            </a:r>
          </a:p>
          <a:p>
            <a:pPr>
              <a:spcAft>
                <a:spcPts val="400"/>
              </a:spcAft>
            </a:pPr>
            <a:r>
              <a:rPr b="1" sz="1050">
                <a:solidFill>
                  <a:srgbClr val="FFFFFF"/>
                </a:solidFill>
              </a:rPr>
              <a:t>• 370 Automated Proposals: </a:t>
            </a:r>
            <a:r>
              <a:rPr b="0" sz="1050">
                <a:solidFill>
                  <a:srgbClr val="E2E8F0"/>
                </a:solidFill>
              </a:rPr>
              <a:t>Generated by multi-signal kinematic detection heuristics.</a:t>
            </a:r>
          </a:p>
          <a:p>
            <a:pPr>
              <a:spcAft>
                <a:spcPts val="400"/>
              </a:spcAft>
            </a:pPr>
            <a:r>
              <a:rPr b="1" sz="1050">
                <a:solidFill>
                  <a:srgbClr val="FFFFFF"/>
                </a:solidFill>
              </a:rPr>
              <a:t>• 347 Subclips Sliced: </a:t>
            </a:r>
            <a:r>
              <a:rPr b="0" sz="1050">
                <a:solidFill>
                  <a:srgbClr val="E2E8F0"/>
                </a:solidFill>
              </a:rPr>
              <a:t>Segmented into discrete video files and indexed in review manifest.</a:t>
            </a:r>
          </a:p>
          <a:p>
            <a:pPr>
              <a:spcAft>
                <a:spcPts val="400"/>
              </a:spcAft>
            </a:pPr>
            <a:r>
              <a:rPr b="1" sz="1050">
                <a:solidFill>
                  <a:srgbClr val="10B981"/>
                </a:solidFill>
              </a:rPr>
              <a:t>• 161 Verified Sequence Events: </a:t>
            </a:r>
            <a:r>
              <a:rPr b="0" sz="1050">
                <a:solidFill>
                  <a:srgbClr val="E2E8F0"/>
                </a:solidFill>
              </a:rPr>
              <a:t>Validated through meticulous visual human review.</a:t>
            </a:r>
          </a:p>
          <a:p>
            <a:pPr>
              <a:spcAft>
                <a:spcPts val="400"/>
              </a:spcAft>
            </a:pPr>
            <a:r>
              <a:rPr b="1" sz="1050">
                <a:solidFill>
                  <a:srgbClr val="FFFFFF"/>
                </a:solidFill>
              </a:rPr>
              <a:t>• Reviewed Distribution: </a:t>
            </a:r>
            <a:r>
              <a:rPr b="0" sz="1050">
                <a:solidFill>
                  <a:srgbClr val="E2E8F0"/>
                </a:solidFill>
              </a:rPr>
              <a:t>• 72 Smash Landings (44.7%)
• 45 Changes of Direction (28.0%)
• 44 Lunges (27.3%)</a:t>
            </a:r>
          </a:p>
          <a:p>
            <a:pPr>
              <a:spcAft>
                <a:spcPts val="400"/>
              </a:spcAft>
            </a:pPr>
            <a:r>
              <a:rPr b="1" sz="1050">
                <a:solidFill>
                  <a:srgbClr val="FFFFFF"/>
                </a:solidFill>
              </a:rPr>
              <a:t>• Cohort Representation: </a:t>
            </a:r>
            <a:r>
              <a:rPr b="0" sz="1050">
                <a:solidFill>
                  <a:srgbClr val="E2E8F0"/>
                </a:solidFill>
              </a:rPr>
              <a:t>6 distinct player groups (player_01 through player_06).</a:t>
            </a:r>
          </a:p>
        </p:txBody>
      </p:sp>
      <p:sp>
        <p:nvSpPr>
          <p:cNvPr id="10" name="Rounded Rectangle 9"/>
          <p:cNvSpPr/>
          <p:nvPr/>
        </p:nvSpPr>
        <p:spPr>
          <a:xfrm>
            <a:off x="4389120" y="1508760"/>
            <a:ext cx="33375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2DD4BF"/>
                </a:solidFill>
              </a:defRPr>
            </a:pPr>
            <a:r>
              <a:t>👁️ Human Review Schema</a:t>
            </a:r>
          </a:p>
          <a:p>
            <a:pPr>
              <a:spcAft>
                <a:spcPts val="400"/>
              </a:spcAft>
            </a:pPr>
            <a:r>
              <a:rPr b="1" sz="1050">
                <a:solidFill>
                  <a:srgbClr val="FFFFFF"/>
                </a:solidFill>
              </a:rPr>
              <a:t>• Strict Decision Triad: </a:t>
            </a:r>
            <a:r>
              <a:rPr b="0" sz="1050">
                <a:solidFill>
                  <a:srgbClr val="E2E8F0"/>
                </a:solidFill>
              </a:rPr>
              <a:t>Every candidate proposal must receive one of three explicit human decisions:</a:t>
            </a:r>
          </a:p>
          <a:p>
            <a:pPr>
              <a:spcAft>
                <a:spcPts val="400"/>
              </a:spcAft>
            </a:pPr>
            <a:r>
              <a:rPr b="1" sz="1050">
                <a:solidFill>
                  <a:srgbClr val="10B981"/>
                </a:solidFill>
              </a:rPr>
              <a:t>• 1. ACCEPT: </a:t>
            </a:r>
            <a:r>
              <a:rPr b="0" sz="1050">
                <a:solidFill>
                  <a:srgbClr val="E2E8F0"/>
                </a:solidFill>
              </a:rPr>
              <a:t>Visual confirmation unambiguously verifies target action kinematics (correct foot plant, jump takeoff, or lateral cut).</a:t>
            </a:r>
          </a:p>
          <a:p>
            <a:pPr>
              <a:spcAft>
                <a:spcPts val="400"/>
              </a:spcAft>
            </a:pPr>
            <a:r>
              <a:rPr b="1" sz="1050">
                <a:solidFill>
                  <a:srgbClr val="F59E0B"/>
                </a:solidFill>
              </a:rPr>
              <a:t>• 2. REJECT: </a:t>
            </a:r>
            <a:r>
              <a:rPr b="0" sz="1050">
                <a:solidFill>
                  <a:srgbClr val="E2E8F0"/>
                </a:solidFill>
              </a:rPr>
              <a:t>False detector trigger, camera occlusion, player stepping out of bounds, or background movement.</a:t>
            </a:r>
          </a:p>
          <a:p>
            <a:pPr>
              <a:spcAft>
                <a:spcPts val="400"/>
              </a:spcAft>
            </a:pPr>
            <a:r>
              <a:rPr b="1" sz="1050">
                <a:solidFill>
                  <a:srgbClr val="94A3B8"/>
                </a:solidFill>
              </a:rPr>
              <a:t>• 3. UNCERTAIN: </a:t>
            </a:r>
            <a:r>
              <a:rPr b="0" sz="1050">
                <a:solidFill>
                  <a:srgbClr val="E2E8F0"/>
                </a:solidFill>
              </a:rPr>
              <a:t>Ambiguous hybrid footwork, poor lighting, or transitional steps that cannot be verified.</a:t>
            </a:r>
          </a:p>
          <a:p>
            <a:pPr>
              <a:spcAft>
                <a:spcPts val="400"/>
              </a:spcAft>
            </a:pPr>
            <a:r>
              <a:rPr b="1" sz="1050">
                <a:solidFill>
                  <a:srgbClr val="FFFFFF"/>
                </a:solidFill>
              </a:rPr>
              <a:t>• Verification Integrity: </a:t>
            </a:r>
            <a:r>
              <a:rPr b="0" sz="1050">
                <a:solidFill>
                  <a:srgbClr val="E2E8F0"/>
                </a:solidFill>
              </a:rPr>
              <a:t>Automated heuristics were used ONLY to prioritize candidates for review, NEVER as proof of ground truth.</a:t>
            </a:r>
          </a:p>
        </p:txBody>
      </p:sp>
      <p:sp>
        <p:nvSpPr>
          <p:cNvPr id="11" name="Rounded Rectangle 10"/>
          <p:cNvSpPr/>
          <p:nvPr/>
        </p:nvSpPr>
        <p:spPr>
          <a:xfrm>
            <a:off x="8046720" y="1508760"/>
            <a:ext cx="341345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F59E0B"/>
                </a:solidFill>
              </a:defRPr>
            </a:pPr>
            <a:r>
              <a:t>🛡️ Anti-Pollution Safeguards</a:t>
            </a:r>
          </a:p>
          <a:p>
            <a:pPr>
              <a:spcAft>
                <a:spcPts val="400"/>
              </a:spcAft>
            </a:pPr>
            <a:r>
              <a:rPr b="1" sz="1050">
                <a:solidFill>
                  <a:srgbClr val="FFFFFF"/>
                </a:solidFill>
              </a:rPr>
              <a:t>• Physical Data Separation: </a:t>
            </a:r>
            <a:r>
              <a:rPr b="0" sz="1050">
                <a:solidFill>
                  <a:srgbClr val="E2E8F0"/>
                </a:solidFill>
              </a:rPr>
              <a:t>Automated proposals and human review manifests are stored in separate directories.</a:t>
            </a:r>
          </a:p>
          <a:p>
            <a:pPr>
              <a:spcAft>
                <a:spcPts val="400"/>
              </a:spcAft>
            </a:pPr>
            <a:r>
              <a:rPr b="1" sz="1050">
                <a:solidFill>
                  <a:srgbClr val="FFFFFF"/>
                </a:solidFill>
              </a:rPr>
              <a:t>• Zero Synthetic Leakage: </a:t>
            </a:r>
            <a:r>
              <a:rPr b="0" sz="1050">
                <a:solidFill>
                  <a:srgbClr val="E2E8F0"/>
                </a:solidFill>
              </a:rPr>
              <a:t>Unreviewed candidate predictions are strictly forbidden from entering training datasets.</a:t>
            </a:r>
          </a:p>
          <a:p>
            <a:pPr>
              <a:spcAft>
                <a:spcPts val="400"/>
              </a:spcAft>
            </a:pPr>
            <a:r>
              <a:rPr b="1" sz="1050">
                <a:solidFill>
                  <a:srgbClr val="FFFFFF"/>
                </a:solidFill>
              </a:rPr>
              <a:t>• Immutable Baseline Data: </a:t>
            </a:r>
            <a:r>
              <a:rPr b="0" sz="1050">
                <a:solidFill>
                  <a:srgbClr val="E2E8F0"/>
                </a:solidFill>
              </a:rPr>
              <a:t>Original training datasets and historical model artifacts remain strictly preserved and hash-verified.</a:t>
            </a:r>
          </a:p>
          <a:p>
            <a:pPr>
              <a:spcAft>
                <a:spcPts val="400"/>
              </a:spcAft>
            </a:pPr>
            <a:r>
              <a:rPr b="1" sz="1050">
                <a:solidFill>
                  <a:srgbClr val="38BDF8"/>
                </a:solidFill>
              </a:rPr>
              <a:t>• Auditable Extraction Script: </a:t>
            </a:r>
            <a:r>
              <a:rPr b="0" sz="1050">
                <a:solidFill>
                  <a:srgbClr val="E2E8F0"/>
                </a:solidFill>
              </a:rPr>
              <a:t>Training dataset generated via extract_reviewed_dataset.py, requiring explicit human decision flags.</a:t>
            </a:r>
          </a:p>
          <a:p>
            <a:pPr>
              <a:spcAft>
                <a:spcPts val="400"/>
              </a:spcAft>
            </a:pPr>
            <a:r>
              <a:rPr b="1" sz="1050">
                <a:solidFill>
                  <a:srgbClr val="10B981"/>
                </a:solidFill>
              </a:rPr>
              <a:t>• Scientific Credibility: </a:t>
            </a:r>
            <a:r>
              <a:rPr b="0" sz="1050">
                <a:solidFill>
                  <a:srgbClr val="E2E8F0"/>
                </a:solidFill>
              </a:rPr>
              <a:t>Ensures the machine learning model learns from validated biomechanics rather than its own detector artifacts.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51560"/>
          </a:xfrm>
          <a:prstGeom prst="rect">
            <a:avLst/>
          </a:prstGeom>
          <a:noFill/>
        </p:spPr>
        <p:txBody>
          <a:bodyPr wrap="square" lIns="0" tIns="0" rIns="0" bIns="0">
            <a:spAutoFit/>
          </a:bodyPr>
          <a:lstStyle/>
          <a:p>
            <a:pPr>
              <a:spcAft>
                <a:spcPts val="200"/>
              </a:spcAft>
              <a:defRPr sz="1000" b="1">
                <a:solidFill>
                  <a:srgbClr val="38BDF8"/>
                </a:solidFill>
              </a:defRPr>
            </a:pPr>
            <a:r>
              <a:t>EMPIRICAL EVALUATION</a:t>
            </a:r>
          </a:p>
          <a:p>
            <a:pPr>
              <a:spcAft>
                <a:spcPts val="200"/>
              </a:spcAft>
              <a:defRPr sz="2100" b="1">
                <a:solidFill>
                  <a:srgbClr val="FFFFFF"/>
                </a:solidFill>
              </a:defRPr>
            </a:pPr>
            <a:r>
              <a:t>Model Evaluation: 3-Fold Player-Grouped Cross-Validation</a:t>
            </a:r>
          </a:p>
          <a:p>
            <a:pPr>
              <a:defRPr sz="1100">
                <a:solidFill>
                  <a:srgbClr val="94A3B8"/>
                </a:solidFill>
              </a:defRPr>
            </a:pPr>
            <a:r>
              <a:t>Evaluating realistic cross-subject generalization without identity leakage.</a:t>
            </a:r>
          </a:p>
        </p:txBody>
      </p:sp>
      <p:sp>
        <p:nvSpPr>
          <p:cNvPr id="5" name="Rectangle 4"/>
          <p:cNvSpPr/>
          <p:nvPr/>
        </p:nvSpPr>
        <p:spPr>
          <a:xfrm>
            <a:off x="731520" y="641908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64808"/>
            <a:ext cx="4572000" cy="292608"/>
          </a:xfrm>
          <a:prstGeom prst="rect">
            <a:avLst/>
          </a:prstGeom>
          <a:noFill/>
        </p:spPr>
        <p:txBody>
          <a:bodyPr wrap="none" lIns="0" tIns="0" rIns="0" bIns="0">
            <a:spAutoFit/>
          </a:bodyPr>
          <a:lstStyle/>
          <a:p>
            <a:pPr>
              <a:defRPr sz="950">
                <a:solidFill>
                  <a:srgbClr val="94A3B8"/>
                </a:solidFill>
              </a:defRPr>
            </a:pPr>
            <a:r>
              <a:t>Badminton Posture AI | Final B.Tech Capstone Defense</a:t>
            </a:r>
          </a:p>
        </p:txBody>
      </p:sp>
      <p:sp>
        <p:nvSpPr>
          <p:cNvPr id="7" name="TextBox 6"/>
          <p:cNvSpPr txBox="1"/>
          <p:nvPr/>
        </p:nvSpPr>
        <p:spPr>
          <a:xfrm>
            <a:off x="4114800" y="6464808"/>
            <a:ext cx="5029200" cy="292608"/>
          </a:xfrm>
          <a:prstGeom prst="rect">
            <a:avLst/>
          </a:prstGeom>
          <a:noFill/>
        </p:spPr>
        <p:txBody>
          <a:bodyPr wrap="none" lIns="0" tIns="0" rIns="0" bIns="0">
            <a:spAutoFit/>
          </a:bodyPr>
          <a:lstStyle/>
          <a:p>
            <a:pPr algn="ctr">
              <a:defRPr sz="900">
                <a:solidFill>
                  <a:srgbClr val="F59E0B"/>
                </a:solidFill>
              </a:defRPr>
            </a:pPr>
            <a:r>
              <a:t>⚠️ Research Prototype — Observational Screening Score (Not Clinical Diagnosis)</a:t>
            </a:r>
          </a:p>
        </p:txBody>
      </p:sp>
      <p:sp>
        <p:nvSpPr>
          <p:cNvPr id="8" name="TextBox 7"/>
          <p:cNvSpPr txBox="1"/>
          <p:nvPr/>
        </p:nvSpPr>
        <p:spPr>
          <a:xfrm>
            <a:off x="9601200" y="6464808"/>
            <a:ext cx="1858975" cy="292608"/>
          </a:xfrm>
          <a:prstGeom prst="rect">
            <a:avLst/>
          </a:prstGeom>
          <a:noFill/>
        </p:spPr>
        <p:txBody>
          <a:bodyPr wrap="none" lIns="0" tIns="0" rIns="0" bIns="0">
            <a:spAutoFit/>
          </a:bodyPr>
          <a:lstStyle/>
          <a:p>
            <a:pPr algn="r">
              <a:defRPr sz="950" b="1">
                <a:solidFill>
                  <a:srgbClr val="38BDF8"/>
                </a:solidFill>
              </a:defRPr>
            </a:pPr>
            <a:r>
              <a:t>Slide 9 of 12</a:t>
            </a:r>
          </a:p>
        </p:txBody>
      </p:sp>
      <p:sp>
        <p:nvSpPr>
          <p:cNvPr id="9" name="Rounded Rectangle 8"/>
          <p:cNvSpPr/>
          <p:nvPr/>
        </p:nvSpPr>
        <p:spPr>
          <a:xfrm>
            <a:off x="731520" y="1508760"/>
            <a:ext cx="2542032" cy="1234440"/>
          </a:xfrm>
          <a:prstGeom prst="roundRect">
            <a:avLst/>
          </a:prstGeom>
          <a:solidFill>
            <a:srgbClr val="1822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defRPr sz="950" b="1">
                <a:solidFill>
                  <a:srgbClr val="94A3B8"/>
                </a:solidFill>
              </a:defRPr>
            </a:pPr>
            <a:r>
              <a:t>MACRO-F1 SCORE</a:t>
            </a:r>
          </a:p>
          <a:p>
            <a:pPr>
              <a:defRPr sz="2200" b="1">
                <a:solidFill>
                  <a:srgbClr val="38BDF8"/>
                </a:solidFill>
              </a:defRPr>
            </a:pPr>
            <a:r>
              <a:t>0.5760</a:t>
            </a:r>
          </a:p>
          <a:p>
            <a:pPr>
              <a:defRPr sz="900">
                <a:solidFill>
                  <a:srgbClr val="E2E8F0"/>
                </a:solidFill>
              </a:defRPr>
            </a:pPr>
            <a:r>
              <a:t>(57.6%) Balanced Class Avg</a:t>
            </a:r>
          </a:p>
        </p:txBody>
      </p:sp>
      <p:sp>
        <p:nvSpPr>
          <p:cNvPr id="10" name="Rounded Rectangle 9"/>
          <p:cNvSpPr/>
          <p:nvPr/>
        </p:nvSpPr>
        <p:spPr>
          <a:xfrm>
            <a:off x="3456432" y="1508760"/>
            <a:ext cx="2542032" cy="1234440"/>
          </a:xfrm>
          <a:prstGeom prst="roundRect">
            <a:avLst/>
          </a:prstGeom>
          <a:solidFill>
            <a:srgbClr val="1822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defRPr sz="950" b="1">
                <a:solidFill>
                  <a:srgbClr val="94A3B8"/>
                </a:solidFill>
              </a:defRPr>
            </a:pPr>
            <a:r>
              <a:t>GROUPED ACCURACY</a:t>
            </a:r>
          </a:p>
          <a:p>
            <a:pPr>
              <a:defRPr sz="2200" b="1">
                <a:solidFill>
                  <a:srgbClr val="10B981"/>
                </a:solidFill>
              </a:defRPr>
            </a:pPr>
            <a:r>
              <a:t>0.6211</a:t>
            </a:r>
          </a:p>
          <a:p>
            <a:pPr>
              <a:defRPr sz="900">
                <a:solidFill>
                  <a:srgbClr val="E2E8F0"/>
                </a:solidFill>
              </a:defRPr>
            </a:pPr>
            <a:r>
              <a:t>(62.1%) Cross-Subject Metric</a:t>
            </a:r>
          </a:p>
        </p:txBody>
      </p:sp>
      <p:sp>
        <p:nvSpPr>
          <p:cNvPr id="11" name="Rounded Rectangle 10"/>
          <p:cNvSpPr/>
          <p:nvPr/>
        </p:nvSpPr>
        <p:spPr>
          <a:xfrm>
            <a:off x="6181344" y="1508760"/>
            <a:ext cx="2542032" cy="1234440"/>
          </a:xfrm>
          <a:prstGeom prst="roundRect">
            <a:avLst/>
          </a:prstGeom>
          <a:solidFill>
            <a:srgbClr val="1822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defRPr sz="950" b="1">
                <a:solidFill>
                  <a:srgbClr val="94A3B8"/>
                </a:solidFill>
              </a:defRPr>
            </a:pPr>
            <a:r>
              <a:t>SMASH LANDING F1</a:t>
            </a:r>
          </a:p>
          <a:p>
            <a:pPr>
              <a:defRPr sz="2200" b="1">
                <a:solidFill>
                  <a:srgbClr val="2DD4BF"/>
                </a:solidFill>
              </a:defRPr>
            </a:pPr>
            <a:r>
              <a:t>0.819</a:t>
            </a:r>
          </a:p>
          <a:p>
            <a:pPr>
              <a:defRPr sz="900">
                <a:solidFill>
                  <a:srgbClr val="E2E8F0"/>
                </a:solidFill>
              </a:defRPr>
            </a:pPr>
            <a:r>
              <a:t>Prec: 0.778 | Rec: 0.865</a:t>
            </a:r>
          </a:p>
        </p:txBody>
      </p:sp>
      <p:sp>
        <p:nvSpPr>
          <p:cNvPr id="12" name="Rounded Rectangle 11"/>
          <p:cNvSpPr/>
          <p:nvPr/>
        </p:nvSpPr>
        <p:spPr>
          <a:xfrm>
            <a:off x="8906256" y="1508760"/>
            <a:ext cx="2542032" cy="1234440"/>
          </a:xfrm>
          <a:prstGeom prst="roundRect">
            <a:avLst/>
          </a:prstGeom>
          <a:solidFill>
            <a:srgbClr val="1822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defRPr sz="950" b="1">
                <a:solidFill>
                  <a:srgbClr val="94A3B8"/>
                </a:solidFill>
              </a:defRPr>
            </a:pPr>
            <a:r>
              <a:t>LUNGE &amp; COD F1</a:t>
            </a:r>
          </a:p>
          <a:p>
            <a:pPr>
              <a:defRPr sz="2200" b="1">
                <a:solidFill>
                  <a:srgbClr val="F59E0B"/>
                </a:solidFill>
              </a:defRPr>
            </a:pPr>
            <a:r>
              <a:t>0.500 / 0.409</a:t>
            </a:r>
          </a:p>
          <a:p>
            <a:pPr>
              <a:defRPr sz="900">
                <a:solidFill>
                  <a:srgbClr val="E2E8F0"/>
                </a:solidFill>
              </a:defRPr>
            </a:pPr>
            <a:r>
              <a:t>Lunge Rec: 0.455 | COD: 0.432</a:t>
            </a:r>
          </a:p>
        </p:txBody>
      </p:sp>
      <p:graphicFrame>
        <p:nvGraphicFramePr>
          <p:cNvPr id="13" name="Table 12"/>
          <p:cNvGraphicFramePr>
            <a:graphicFrameLocks noGrp="1"/>
          </p:cNvGraphicFramePr>
          <p:nvPr/>
        </p:nvGraphicFramePr>
        <p:xfrm>
          <a:off x="731520" y="2880360"/>
          <a:ext cx="5212080" cy="3291840"/>
        </p:xfrm>
        <a:graphic>
          <a:graphicData uri="http://schemas.openxmlformats.org/drawingml/2006/table">
            <a:tbl>
              <a:tblPr firstRow="1" bandRow="1">
                <a:tableStyleId>{5C22544A-7EE6-4342-B048-85BDC9FD1C3A}</a:tableStyleId>
              </a:tblPr>
              <a:tblGrid>
                <a:gridCol w="2011680"/>
                <a:gridCol w="1051560"/>
                <a:gridCol w="1051560"/>
                <a:gridCol w="1097280"/>
              </a:tblGrid>
              <a:tr h="658368">
                <a:tc>
                  <a:txBody>
                    <a:bodyPr/>
                    <a:lstStyle/>
                    <a:p>
                      <a:pPr>
                        <a:defRPr b="1" sz="1000">
                          <a:solidFill>
                            <a:srgbClr val="38BDF8"/>
                          </a:solidFill>
                        </a:defRPr>
                      </a:pPr>
                      <a:r>
                        <a:t>Evaluation Metric</a:t>
                      </a:r>
                    </a:p>
                  </a:txBody>
                  <a:tcPr>
                    <a:solidFill>
                      <a:srgbClr val="182235"/>
                    </a:solidFill>
                  </a:tcPr>
                </a:tc>
                <a:tc>
                  <a:txBody>
                    <a:bodyPr/>
                    <a:lstStyle/>
                    <a:p>
                      <a:pPr>
                        <a:defRPr b="1" sz="1000">
                          <a:solidFill>
                            <a:srgbClr val="38BDF8"/>
                          </a:solidFill>
                        </a:defRPr>
                      </a:pPr>
                      <a:r>
                        <a:t>Baseline</a:t>
                      </a:r>
                    </a:p>
                  </a:txBody>
                  <a:tcPr>
                    <a:solidFill>
                      <a:srgbClr val="182235"/>
                    </a:solidFill>
                  </a:tcPr>
                </a:tc>
                <a:tc>
                  <a:txBody>
                    <a:bodyPr/>
                    <a:lstStyle/>
                    <a:p>
                      <a:pPr>
                        <a:defRPr b="1" sz="1000">
                          <a:solidFill>
                            <a:srgbClr val="38BDF8"/>
                          </a:solidFill>
                        </a:defRPr>
                      </a:pPr>
                      <a:r>
                        <a:t>Random Forest</a:t>
                      </a:r>
                    </a:p>
                  </a:txBody>
                  <a:tcPr>
                    <a:solidFill>
                      <a:srgbClr val="182235"/>
                    </a:solidFill>
                  </a:tcPr>
                </a:tc>
                <a:tc>
                  <a:txBody>
                    <a:bodyPr/>
                    <a:lstStyle/>
                    <a:p>
                      <a:pPr>
                        <a:defRPr b="1" sz="1000">
                          <a:solidFill>
                            <a:srgbClr val="38BDF8"/>
                          </a:solidFill>
                        </a:defRPr>
                      </a:pPr>
                      <a:r>
                        <a:t>Improvement</a:t>
                      </a:r>
                    </a:p>
                  </a:txBody>
                  <a:tcPr>
                    <a:solidFill>
                      <a:srgbClr val="182235"/>
                    </a:solidFill>
                  </a:tcPr>
                </a:tc>
              </a:tr>
              <a:tr h="658368">
                <a:tc>
                  <a:txBody>
                    <a:bodyPr/>
                    <a:lstStyle/>
                    <a:p>
                      <a:pPr>
                        <a:defRPr sz="1000">
                          <a:solidFill>
                            <a:srgbClr val="E2E8F0"/>
                          </a:solidFill>
                        </a:defRPr>
                      </a:pPr>
                      <a:r>
                        <a:t>Accuracy</a:t>
                      </a:r>
                    </a:p>
                  </a:txBody>
                  <a:tcPr>
                    <a:solidFill>
                      <a:srgbClr val="1E293B"/>
                    </a:solidFill>
                  </a:tcPr>
                </a:tc>
                <a:tc>
                  <a:txBody>
                    <a:bodyPr/>
                    <a:lstStyle/>
                    <a:p>
                      <a:pPr>
                        <a:defRPr sz="1000">
                          <a:solidFill>
                            <a:srgbClr val="E2E8F0"/>
                          </a:solidFill>
                        </a:defRPr>
                      </a:pPr>
                      <a:r>
                        <a:t>0.329 (32.9%)</a:t>
                      </a:r>
                    </a:p>
                  </a:txBody>
                  <a:tcPr>
                    <a:solidFill>
                      <a:srgbClr val="1E293B"/>
                    </a:solidFill>
                  </a:tcPr>
                </a:tc>
                <a:tc>
                  <a:txBody>
                    <a:bodyPr/>
                    <a:lstStyle/>
                    <a:p>
                      <a:pPr>
                        <a:defRPr sz="1000">
                          <a:solidFill>
                            <a:srgbClr val="FFFFFF"/>
                          </a:solidFill>
                        </a:defRPr>
                      </a:pPr>
                      <a:r>
                        <a:t>0.621 (62.1%)</a:t>
                      </a:r>
                    </a:p>
                  </a:txBody>
                  <a:tcPr>
                    <a:solidFill>
                      <a:srgbClr val="1E293B"/>
                    </a:solidFill>
                  </a:tcPr>
                </a:tc>
                <a:tc>
                  <a:txBody>
                    <a:bodyPr/>
                    <a:lstStyle/>
                    <a:p>
                      <a:pPr>
                        <a:defRPr sz="1000">
                          <a:solidFill>
                            <a:srgbClr val="10B981"/>
                          </a:solidFill>
                        </a:defRPr>
                      </a:pPr>
                      <a:r>
                        <a:t>+29.2% (2x)</a:t>
                      </a:r>
                    </a:p>
                  </a:txBody>
                  <a:tcPr>
                    <a:solidFill>
                      <a:srgbClr val="1E293B"/>
                    </a:solidFill>
                  </a:tcPr>
                </a:tc>
              </a:tr>
              <a:tr h="658368">
                <a:tc>
                  <a:txBody>
                    <a:bodyPr/>
                    <a:lstStyle/>
                    <a:p>
                      <a:pPr>
                        <a:defRPr sz="1000">
                          <a:solidFill>
                            <a:srgbClr val="E2E8F0"/>
                          </a:solidFill>
                        </a:defRPr>
                      </a:pPr>
                      <a:r>
                        <a:t>Macro-F1</a:t>
                      </a:r>
                    </a:p>
                  </a:txBody>
                  <a:tcPr>
                    <a:solidFill>
                      <a:srgbClr val="182235"/>
                    </a:solidFill>
                  </a:tcPr>
                </a:tc>
                <a:tc>
                  <a:txBody>
                    <a:bodyPr/>
                    <a:lstStyle/>
                    <a:p>
                      <a:pPr>
                        <a:defRPr sz="1000">
                          <a:solidFill>
                            <a:srgbClr val="E2E8F0"/>
                          </a:solidFill>
                        </a:defRPr>
                      </a:pPr>
                      <a:r>
                        <a:t>0.354 (35.4%)</a:t>
                      </a:r>
                    </a:p>
                  </a:txBody>
                  <a:tcPr>
                    <a:solidFill>
                      <a:srgbClr val="182235"/>
                    </a:solidFill>
                  </a:tcPr>
                </a:tc>
                <a:tc>
                  <a:txBody>
                    <a:bodyPr/>
                    <a:lstStyle/>
                    <a:p>
                      <a:pPr>
                        <a:defRPr sz="1000">
                          <a:solidFill>
                            <a:srgbClr val="FFFFFF"/>
                          </a:solidFill>
                        </a:defRPr>
                      </a:pPr>
                      <a:r>
                        <a:t>0.576 (57.6%)</a:t>
                      </a:r>
                    </a:p>
                  </a:txBody>
                  <a:tcPr>
                    <a:solidFill>
                      <a:srgbClr val="182235"/>
                    </a:solidFill>
                  </a:tcPr>
                </a:tc>
                <a:tc>
                  <a:txBody>
                    <a:bodyPr/>
                    <a:lstStyle/>
                    <a:p>
                      <a:pPr>
                        <a:defRPr sz="1000">
                          <a:solidFill>
                            <a:srgbClr val="10B981"/>
                          </a:solidFill>
                        </a:defRPr>
                      </a:pPr>
                      <a:r>
                        <a:t>+22.2% Lift</a:t>
                      </a:r>
                    </a:p>
                  </a:txBody>
                  <a:tcPr>
                    <a:solidFill>
                      <a:srgbClr val="182235"/>
                    </a:solidFill>
                  </a:tcPr>
                </a:tc>
              </a:tr>
              <a:tr h="658368">
                <a:tc>
                  <a:txBody>
                    <a:bodyPr/>
                    <a:lstStyle/>
                    <a:p>
                      <a:pPr>
                        <a:defRPr sz="1000">
                          <a:solidFill>
                            <a:srgbClr val="E2E8F0"/>
                          </a:solidFill>
                        </a:defRPr>
                      </a:pPr>
                      <a:r>
                        <a:t>SMASH_LANDING F1</a:t>
                      </a:r>
                    </a:p>
                  </a:txBody>
                  <a:tcPr>
                    <a:solidFill>
                      <a:srgbClr val="1E293B"/>
                    </a:solidFill>
                  </a:tcPr>
                </a:tc>
                <a:tc>
                  <a:txBody>
                    <a:bodyPr/>
                    <a:lstStyle/>
                    <a:p>
                      <a:pPr>
                        <a:defRPr sz="1000">
                          <a:solidFill>
                            <a:srgbClr val="E2E8F0"/>
                          </a:solidFill>
                        </a:defRPr>
                      </a:pPr>
                      <a:r>
                        <a:t>0.582</a:t>
                      </a:r>
                    </a:p>
                  </a:txBody>
                  <a:tcPr>
                    <a:solidFill>
                      <a:srgbClr val="1E293B"/>
                    </a:solidFill>
                  </a:tcPr>
                </a:tc>
                <a:tc>
                  <a:txBody>
                    <a:bodyPr/>
                    <a:lstStyle/>
                    <a:p>
                      <a:pPr>
                        <a:defRPr sz="1000">
                          <a:solidFill>
                            <a:srgbClr val="FFFFFF"/>
                          </a:solidFill>
                        </a:defRPr>
                      </a:pPr>
                      <a:r>
                        <a:t>0.819</a:t>
                      </a:r>
                    </a:p>
                  </a:txBody>
                  <a:tcPr>
                    <a:solidFill>
                      <a:srgbClr val="1E293B"/>
                    </a:solidFill>
                  </a:tcPr>
                </a:tc>
                <a:tc>
                  <a:txBody>
                    <a:bodyPr/>
                    <a:lstStyle/>
                    <a:p>
                      <a:pPr>
                        <a:defRPr sz="1000">
                          <a:solidFill>
                            <a:srgbClr val="10B981"/>
                          </a:solidFill>
                        </a:defRPr>
                      </a:pPr>
                      <a:r>
                        <a:t>+0.237 Lift</a:t>
                      </a:r>
                    </a:p>
                  </a:txBody>
                  <a:tcPr>
                    <a:solidFill>
                      <a:srgbClr val="1E293B"/>
                    </a:solidFill>
                  </a:tcPr>
                </a:tc>
              </a:tr>
              <a:tr h="658368">
                <a:tc>
                  <a:txBody>
                    <a:bodyPr/>
                    <a:lstStyle/>
                    <a:p>
                      <a:pPr>
                        <a:defRPr sz="1000">
                          <a:solidFill>
                            <a:srgbClr val="E2E8F0"/>
                          </a:solidFill>
                        </a:defRPr>
                      </a:pPr>
                      <a:r>
                        <a:t>LUNGE / COD F1</a:t>
                      </a:r>
                    </a:p>
                  </a:txBody>
                  <a:tcPr>
                    <a:solidFill>
                      <a:srgbClr val="182235"/>
                    </a:solidFill>
                  </a:tcPr>
                </a:tc>
                <a:tc>
                  <a:txBody>
                    <a:bodyPr/>
                    <a:lstStyle/>
                    <a:p>
                      <a:pPr>
                        <a:defRPr sz="1000">
                          <a:solidFill>
                            <a:srgbClr val="E2E8F0"/>
                          </a:solidFill>
                        </a:defRPr>
                      </a:pPr>
                      <a:r>
                        <a:t>0.240 / 0.241</a:t>
                      </a:r>
                    </a:p>
                  </a:txBody>
                  <a:tcPr>
                    <a:solidFill>
                      <a:srgbClr val="182235"/>
                    </a:solidFill>
                  </a:tcPr>
                </a:tc>
                <a:tc>
                  <a:txBody>
                    <a:bodyPr/>
                    <a:lstStyle/>
                    <a:p>
                      <a:pPr>
                        <a:defRPr sz="1000">
                          <a:solidFill>
                            <a:srgbClr val="FFFFFF"/>
                          </a:solidFill>
                        </a:defRPr>
                      </a:pPr>
                      <a:r>
                        <a:t>0.500 / 0.409</a:t>
                      </a:r>
                    </a:p>
                  </a:txBody>
                  <a:tcPr>
                    <a:solidFill>
                      <a:srgbClr val="182235"/>
                    </a:solidFill>
                  </a:tcPr>
                </a:tc>
                <a:tc>
                  <a:txBody>
                    <a:bodyPr/>
                    <a:lstStyle/>
                    <a:p>
                      <a:pPr>
                        <a:defRPr sz="1000">
                          <a:solidFill>
                            <a:srgbClr val="10B981"/>
                          </a:solidFill>
                        </a:defRPr>
                      </a:pPr>
                      <a:r>
                        <a:t>+0.260 / +0.168</a:t>
                      </a:r>
                    </a:p>
                  </a:txBody>
                  <a:tcPr>
                    <a:solidFill>
                      <a:srgbClr val="182235"/>
                    </a:solidFill>
                  </a:tcPr>
                </a:tc>
              </a:tr>
            </a:tbl>
          </a:graphicData>
        </a:graphic>
      </p:graphicFrame>
      <p:sp>
        <p:nvSpPr>
          <p:cNvPr id="14" name="Rounded Rectangle 13"/>
          <p:cNvSpPr/>
          <p:nvPr/>
        </p:nvSpPr>
        <p:spPr>
          <a:xfrm>
            <a:off x="6248095" y="2880360"/>
            <a:ext cx="5212080" cy="32918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2DD4BF"/>
                </a:solidFill>
              </a:defRPr>
            </a:pPr>
            <a:r>
              <a:t>🔬 GroupKFold &amp; Cohort Analysis</a:t>
            </a:r>
          </a:p>
          <a:p>
            <a:pPr>
              <a:spcAft>
                <a:spcPts val="400"/>
              </a:spcAft>
            </a:pPr>
            <a:r>
              <a:rPr b="1" sz="1050">
                <a:solidFill>
                  <a:srgbClr val="F59E0B"/>
                </a:solidFill>
              </a:rPr>
              <a:t>• The Data Leakage Fallacy: </a:t>
            </a:r>
            <a:r>
              <a:rPr b="0" sz="1050">
                <a:solidFill>
                  <a:srgbClr val="E2E8F0"/>
                </a:solidFill>
              </a:rPr>
              <a:t>Standard random train/test splits leak player identity (same clothing, lighting, body mass), claiming false &gt;90% accuracy.</a:t>
            </a:r>
          </a:p>
          <a:p>
            <a:pPr>
              <a:spcAft>
                <a:spcPts val="400"/>
              </a:spcAft>
            </a:pPr>
            <a:r>
              <a:rPr b="1" sz="1050">
                <a:solidFill>
                  <a:srgbClr val="FFFFFF"/>
                </a:solidFill>
              </a:rPr>
              <a:t>• Strict Player Holdout: </a:t>
            </a:r>
            <a:r>
              <a:rPr b="0" sz="1050">
                <a:solidFill>
                  <a:srgbClr val="E2E8F0"/>
                </a:solidFill>
              </a:rPr>
              <a:t>In 3-fold GroupKFold, test fold players were NEVER seen during training. Measures true cross-subject transfer.</a:t>
            </a:r>
          </a:p>
          <a:p>
            <a:pPr>
              <a:spcAft>
                <a:spcPts val="400"/>
              </a:spcAft>
            </a:pPr>
            <a:r>
              <a:rPr b="1" sz="1050">
                <a:solidFill>
                  <a:srgbClr val="FFFFFF"/>
                </a:solidFill>
              </a:rPr>
              <a:t>• Cohort Imbalance Limitation: </a:t>
            </a:r>
            <a:r>
              <a:rPr b="0" sz="1050">
                <a:solidFill>
                  <a:srgbClr val="E2E8F0"/>
                </a:solidFill>
              </a:rPr>
              <a:t>Player 05 accounts for 48% of events. Holding out Player 05 drops Fold 1 F1 to 0.485, whereas Fold 3 reaches 0.702.</a:t>
            </a:r>
          </a:p>
          <a:p>
            <a:pPr>
              <a:spcAft>
                <a:spcPts val="400"/>
              </a:spcAft>
            </a:pPr>
            <a:r>
              <a:rPr b="1" sz="1050">
                <a:solidFill>
                  <a:srgbClr val="FFFFFF"/>
                </a:solidFill>
              </a:rPr>
              <a:t>• Smash vs Lunge/COD Disparity: </a:t>
            </a:r>
            <a:r>
              <a:rPr b="0" sz="1050">
                <a:solidFill>
                  <a:srgbClr val="E2E8F0"/>
                </a:solidFill>
              </a:rPr>
              <a:t>Smash Landing achieves high F1 (0.819) due to vertical hip displacement. Lunge recall (0.455) and COD F1 (0.409) suffer because lateral cuts and short lunges share similar knee flexion angles in 2D video.</a:t>
            </a:r>
          </a:p>
          <a:p>
            <a:pPr>
              <a:spcAft>
                <a:spcPts val="400"/>
              </a:spcAft>
            </a:pPr>
            <a:r>
              <a:rPr b="1" sz="1050">
                <a:solidFill>
                  <a:srgbClr val="38BDF8"/>
                </a:solidFill>
              </a:rPr>
              <a:t>• Scientific Baseline: </a:t>
            </a:r>
            <a:r>
              <a:rPr b="0" sz="1050">
                <a:solidFill>
                  <a:srgbClr val="E2E8F0"/>
                </a:solidFill>
              </a:rPr>
              <a:t>62.1% accuracy and 0.576 macro-F1 represent an honest, validated cross-subject baseline—not guaranteed deployment performance.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51560"/>
          </a:xfrm>
          <a:prstGeom prst="rect">
            <a:avLst/>
          </a:prstGeom>
          <a:noFill/>
        </p:spPr>
        <p:txBody>
          <a:bodyPr wrap="square" lIns="0" tIns="0" rIns="0" bIns="0">
            <a:spAutoFit/>
          </a:bodyPr>
          <a:lstStyle/>
          <a:p>
            <a:pPr>
              <a:spcAft>
                <a:spcPts val="200"/>
              </a:spcAft>
              <a:defRPr sz="1000" b="1">
                <a:solidFill>
                  <a:srgbClr val="38BDF8"/>
                </a:solidFill>
              </a:defRPr>
            </a:pPr>
            <a:r>
              <a:t>BIOMECHANICAL RISK FRAMEWORK</a:t>
            </a:r>
          </a:p>
          <a:p>
            <a:pPr>
              <a:spcAft>
                <a:spcPts val="200"/>
              </a:spcAft>
              <a:defRPr sz="2100" b="1">
                <a:solidFill>
                  <a:srgbClr val="FFFFFF"/>
                </a:solidFill>
              </a:defRPr>
            </a:pPr>
            <a:r>
              <a:t>Rubric v0.3: Numerical Biomechanical Screening Score (0–100)</a:t>
            </a:r>
          </a:p>
          <a:p>
            <a:pPr>
              <a:defRPr sz="1100">
                <a:solidFill>
                  <a:srgbClr val="94A3B8"/>
                </a:solidFill>
              </a:defRPr>
            </a:pPr>
            <a:r>
              <a:t>A deterministic, piecewise kinematic index quantifying observed postural deviation without clinical over-claims.</a:t>
            </a:r>
          </a:p>
        </p:txBody>
      </p:sp>
      <p:sp>
        <p:nvSpPr>
          <p:cNvPr id="5" name="Rectangle 4"/>
          <p:cNvSpPr/>
          <p:nvPr/>
        </p:nvSpPr>
        <p:spPr>
          <a:xfrm>
            <a:off x="731520" y="641908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64808"/>
            <a:ext cx="4572000" cy="292608"/>
          </a:xfrm>
          <a:prstGeom prst="rect">
            <a:avLst/>
          </a:prstGeom>
          <a:noFill/>
        </p:spPr>
        <p:txBody>
          <a:bodyPr wrap="none" lIns="0" tIns="0" rIns="0" bIns="0">
            <a:spAutoFit/>
          </a:bodyPr>
          <a:lstStyle/>
          <a:p>
            <a:pPr>
              <a:defRPr sz="950">
                <a:solidFill>
                  <a:srgbClr val="94A3B8"/>
                </a:solidFill>
              </a:defRPr>
            </a:pPr>
            <a:r>
              <a:t>Badminton Posture AI | Final B.Tech Capstone Defense</a:t>
            </a:r>
          </a:p>
        </p:txBody>
      </p:sp>
      <p:sp>
        <p:nvSpPr>
          <p:cNvPr id="7" name="TextBox 6"/>
          <p:cNvSpPr txBox="1"/>
          <p:nvPr/>
        </p:nvSpPr>
        <p:spPr>
          <a:xfrm>
            <a:off x="4114800" y="6464808"/>
            <a:ext cx="5029200" cy="292608"/>
          </a:xfrm>
          <a:prstGeom prst="rect">
            <a:avLst/>
          </a:prstGeom>
          <a:noFill/>
        </p:spPr>
        <p:txBody>
          <a:bodyPr wrap="none" lIns="0" tIns="0" rIns="0" bIns="0">
            <a:spAutoFit/>
          </a:bodyPr>
          <a:lstStyle/>
          <a:p>
            <a:pPr algn="ctr">
              <a:defRPr sz="900">
                <a:solidFill>
                  <a:srgbClr val="F59E0B"/>
                </a:solidFill>
              </a:defRPr>
            </a:pPr>
            <a:r>
              <a:t>⚠️ Research Prototype — Observational Screening Score (Not Clinical Diagnosis)</a:t>
            </a:r>
          </a:p>
        </p:txBody>
      </p:sp>
      <p:sp>
        <p:nvSpPr>
          <p:cNvPr id="8" name="TextBox 7"/>
          <p:cNvSpPr txBox="1"/>
          <p:nvPr/>
        </p:nvSpPr>
        <p:spPr>
          <a:xfrm>
            <a:off x="9601200" y="6464808"/>
            <a:ext cx="1858975" cy="292608"/>
          </a:xfrm>
          <a:prstGeom prst="rect">
            <a:avLst/>
          </a:prstGeom>
          <a:noFill/>
        </p:spPr>
        <p:txBody>
          <a:bodyPr wrap="none" lIns="0" tIns="0" rIns="0" bIns="0">
            <a:spAutoFit/>
          </a:bodyPr>
          <a:lstStyle/>
          <a:p>
            <a:pPr algn="r">
              <a:defRPr sz="950" b="1">
                <a:solidFill>
                  <a:srgbClr val="38BDF8"/>
                </a:solidFill>
              </a:defRPr>
            </a:pPr>
            <a:r>
              <a:t>Slide 10 of 12</a:t>
            </a:r>
          </a:p>
        </p:txBody>
      </p:sp>
      <p:sp>
        <p:nvSpPr>
          <p:cNvPr id="9" name="Rounded Rectangle 8"/>
          <p:cNvSpPr/>
          <p:nvPr/>
        </p:nvSpPr>
        <p:spPr>
          <a:xfrm>
            <a:off x="731520" y="1508760"/>
            <a:ext cx="5212080" cy="3794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38BDF8"/>
                </a:solidFill>
              </a:defRPr>
            </a:pPr>
            <a:r>
              <a:t>📐 Scoring Formulation &amp; Indicator Contributions</a:t>
            </a:r>
          </a:p>
          <a:p>
            <a:pPr>
              <a:spcAft>
                <a:spcPts val="400"/>
              </a:spcAft>
            </a:pPr>
            <a:r>
              <a:rPr b="1" sz="1050">
                <a:solidFill>
                  <a:srgbClr val="10B981"/>
                </a:solidFill>
              </a:rPr>
              <a:t>• Formula: </a:t>
            </a:r>
            <a:r>
              <a:rPr b="0" sz="1050">
                <a:solidFill>
                  <a:srgbClr val="E2E8F0"/>
                </a:solidFill>
              </a:rPr>
              <a:t>Score = knee contribution + torso-lean contribution + asymmetry contribution</a:t>
            </a:r>
          </a:p>
          <a:p>
            <a:pPr>
              <a:spcAft>
                <a:spcPts val="400"/>
              </a:spcAft>
            </a:pPr>
            <a:r>
              <a:rPr b="1" sz="1050">
                <a:solidFill>
                  <a:srgbClr val="2DD4BF"/>
                </a:solidFill>
              </a:rPr>
              <a:t>• Maximum Contributions: </a:t>
            </a:r>
            <a:r>
              <a:rPr b="0" sz="1050">
                <a:solidFill>
                  <a:srgbClr val="E2E8F0"/>
                </a:solidFill>
              </a:rPr>
              <a:t>Max 40 (knee), 35 (torso-lean), and 25 (asymmetry) points respectively (Total max: 100).</a:t>
            </a:r>
          </a:p>
          <a:p>
            <a:pPr>
              <a:spcAft>
                <a:spcPts val="400"/>
              </a:spcAft>
            </a:pPr>
            <a:r>
              <a:rPr b="1" sz="1050">
                <a:solidFill>
                  <a:srgbClr val="FFFFFF"/>
                </a:solidFill>
              </a:rPr>
              <a:t>• 1. Knee Contribution (Max 40 points): </a:t>
            </a:r>
            <a:r>
              <a:rPr b="0" sz="1050">
                <a:solidFill>
                  <a:srgbClr val="E2E8F0"/>
                </a:solidFill>
              </a:rPr>
              <a:t>Evaluates plant/landing deceleration cushioning. Optimal flexion: [95°, 115°] -&gt; 0 pts. Penalty for stiff landing (&gt;115°, up to 40 pts at 160°) or acute hyperflexion (&lt;95°, up to 40 pts at 60°).</a:t>
            </a:r>
          </a:p>
          <a:p>
            <a:pPr>
              <a:spcAft>
                <a:spcPts val="400"/>
              </a:spcAft>
            </a:pPr>
            <a:r>
              <a:rPr b="1" sz="1050">
                <a:solidFill>
                  <a:srgbClr val="FFFFFF"/>
                </a:solidFill>
              </a:rPr>
              <a:t>• 2. Torso-Lean Contribution (Max 35 points): </a:t>
            </a:r>
            <a:r>
              <a:rPr b="0" sz="1050">
                <a:solidFill>
                  <a:srgbClr val="E2E8F0"/>
                </a:solidFill>
              </a:rPr>
              <a:t>Evaluates trunk inclination relative to vertical. Optimal: &lt;= 15° -&gt; 0 pts. Linear penalty for lean &gt; 15° outside base of support (up to 35 pts at 45°).</a:t>
            </a:r>
          </a:p>
          <a:p>
            <a:pPr>
              <a:spcAft>
                <a:spcPts val="400"/>
              </a:spcAft>
            </a:pPr>
            <a:r>
              <a:rPr b="1" sz="1050">
                <a:solidFill>
                  <a:srgbClr val="FFFFFF"/>
                </a:solidFill>
              </a:rPr>
              <a:t>• 3. Asymmetry Contribution (Max 25 points): </a:t>
            </a:r>
            <a:r>
              <a:rPr b="0" sz="1050">
                <a:solidFill>
                  <a:srgbClr val="E2E8F0"/>
                </a:solidFill>
              </a:rPr>
              <a:t>Evaluates bilateral knee flexion asymmetry |θ_L - θ_R|. Symmetrical: &lt;= 10° -&gt; 0 pts. Penalty for asymmetry &gt; 10° (up to 25 pts at 45°).</a:t>
            </a:r>
          </a:p>
          <a:p>
            <a:pPr>
              <a:spcAft>
                <a:spcPts val="400"/>
              </a:spcAft>
            </a:pPr>
            <a:r>
              <a:rPr b="1" sz="1050">
                <a:solidFill>
                  <a:srgbClr val="94A3B8"/>
                </a:solidFill>
              </a:rPr>
              <a:t>• Continuous Normalization: </a:t>
            </a:r>
            <a:r>
              <a:rPr b="0" sz="1050">
                <a:solidFill>
                  <a:srgbClr val="E2E8F0"/>
                </a:solidFill>
              </a:rPr>
              <a:t>Bounded in [0.0, 100.0]. Lower score indicates closer alignment with recommended kinematic envelopes.</a:t>
            </a:r>
          </a:p>
        </p:txBody>
      </p:sp>
      <p:sp>
        <p:nvSpPr>
          <p:cNvPr id="10" name="Rounded Rectangle 9"/>
          <p:cNvSpPr/>
          <p:nvPr/>
        </p:nvSpPr>
        <p:spPr>
          <a:xfrm>
            <a:off x="6248095" y="1508760"/>
            <a:ext cx="5212080" cy="37947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2DD4BF"/>
                </a:solidFill>
              </a:defRPr>
            </a:pPr>
            <a:r>
              <a:t>📋 Provisional Categories &amp; Benchmark Validations</a:t>
            </a:r>
          </a:p>
          <a:p>
            <a:pPr>
              <a:spcAft>
                <a:spcPts val="400"/>
              </a:spcAft>
            </a:pPr>
            <a:r>
              <a:rPr b="1" sz="1050">
                <a:solidFill>
                  <a:srgbClr val="FFFFFF"/>
                </a:solidFill>
              </a:rPr>
              <a:t>• Provisional Screening Categories: </a:t>
            </a:r>
            <a:r>
              <a:rPr b="0" sz="1050">
                <a:solidFill>
                  <a:srgbClr val="E2E8F0"/>
                </a:solidFill>
              </a:rPr>
              <a:t>Categorizes observed kinematic posture across assessable movements:</a:t>
            </a:r>
          </a:p>
          <a:p>
            <a:pPr>
              <a:spcAft>
                <a:spcPts val="400"/>
              </a:spcAft>
            </a:pPr>
            <a:r>
              <a:rPr b="1" sz="1050">
                <a:solidFill>
                  <a:srgbClr val="10B981"/>
                </a:solidFill>
              </a:rPr>
              <a:t>•   • 🟢 LOW (0–29.9): </a:t>
            </a:r>
            <a:r>
              <a:rPr b="0" sz="1050">
                <a:solidFill>
                  <a:srgbClr val="E2E8F0"/>
                </a:solidFill>
              </a:rPr>
              <a:t>Minimal deviation; joint kinematics within recommended envelopes.</a:t>
            </a:r>
          </a:p>
          <a:p>
            <a:pPr>
              <a:spcAft>
                <a:spcPts val="400"/>
              </a:spcAft>
            </a:pPr>
            <a:r>
              <a:rPr b="1" sz="1050">
                <a:solidFill>
                  <a:srgbClr val="F59E0B"/>
                </a:solidFill>
              </a:rPr>
              <a:t>•   • 🟡 MODERATE (30–59.9): </a:t>
            </a:r>
            <a:r>
              <a:rPr b="0" sz="1050">
                <a:solidFill>
                  <a:srgbClr val="E2E8F0"/>
                </a:solidFill>
              </a:rPr>
              <a:t>Noticeable knee stiffness, excessive trunk lean, or asymmetry.</a:t>
            </a:r>
          </a:p>
          <a:p>
            <a:pPr>
              <a:spcAft>
                <a:spcPts val="400"/>
              </a:spcAft>
            </a:pPr>
            <a:r>
              <a:rPr b="1" sz="1050">
                <a:solidFill>
                  <a:srgbClr val="EF4444"/>
                </a:solidFill>
              </a:rPr>
              <a:t>•   • 🔴 HIGH (60–100): </a:t>
            </a:r>
            <a:r>
              <a:rPr b="0" sz="1050">
                <a:solidFill>
                  <a:srgbClr val="E2E8F0"/>
                </a:solidFill>
              </a:rPr>
              <a:t>Substantial deviation (stiff landing &gt;140°, severe lean &gt;35°). High joint stress.</a:t>
            </a:r>
          </a:p>
          <a:p>
            <a:pPr>
              <a:spcAft>
                <a:spcPts val="400"/>
              </a:spcAft>
            </a:pPr>
            <a:r>
              <a:rPr b="1" sz="1050">
                <a:solidFill>
                  <a:srgbClr val="94A3B8"/>
                </a:solidFill>
              </a:rPr>
              <a:t>•   • ⚪ UNASSESSED: </a:t>
            </a:r>
            <a:r>
              <a:rPr b="0" sz="1050">
                <a:solidFill>
                  <a:srgbClr val="E2E8F0"/>
                </a:solidFill>
              </a:rPr>
              <a:t>Assigned when evidence is insufficient, movement is UNCERTAIN, deferred class, or tracking quality &lt; 0.45.</a:t>
            </a:r>
          </a:p>
          <a:p>
            <a:pPr>
              <a:spcAft>
                <a:spcPts val="400"/>
              </a:spcAft>
            </a:pPr>
            <a:r>
              <a:rPr b="1" sz="1050">
                <a:solidFill>
                  <a:srgbClr val="FFFFFF"/>
                </a:solidFill>
              </a:rPr>
              <a:t>• Verified Pipeline Benchmark Examples: </a:t>
            </a:r>
            <a:r>
              <a:rPr b="0" sz="1050">
                <a:solidFill>
                  <a:srgbClr val="E2E8F0"/>
                </a:solidFill>
              </a:rPr>
              <a:t/>
            </a:r>
          </a:p>
          <a:p>
            <a:pPr>
              <a:spcAft>
                <a:spcPts val="400"/>
              </a:spcAft>
            </a:pPr>
            <a:r>
              <a:rPr b="1" sz="1050">
                <a:solidFill>
                  <a:srgbClr val="38BDF8"/>
                </a:solidFill>
              </a:rPr>
              <a:t>•   • Verified Smash Example: </a:t>
            </a:r>
            <a:r>
              <a:rPr b="0" sz="1050">
                <a:solidFill>
                  <a:srgbClr val="E2E8F0"/>
                </a:solidFill>
              </a:rPr>
              <a:t>12.6/100, LOW (test_smash_movement1: knee 0.0 pts, torso-lean 0.0 pts, asymmetry 12.6 pts).</a:t>
            </a:r>
          </a:p>
          <a:p>
            <a:pPr>
              <a:spcAft>
                <a:spcPts val="400"/>
              </a:spcAft>
            </a:pPr>
            <a:r>
              <a:rPr b="1" sz="1050">
                <a:solidFill>
                  <a:srgbClr val="38BDF8"/>
                </a:solidFill>
              </a:rPr>
              <a:t>•   • Verified Lunge Example: </a:t>
            </a:r>
            <a:r>
              <a:rPr b="0" sz="1050">
                <a:solidFill>
                  <a:srgbClr val="E2E8F0"/>
                </a:solidFill>
              </a:rPr>
              <a:t>25.0/100, LOW (cand_006: knee 0.0 pts, torso-lean 25.0 pts, asymmetry 0.0 pts).</a:t>
            </a:r>
          </a:p>
          <a:p>
            <a:pPr>
              <a:spcAft>
                <a:spcPts val="400"/>
              </a:spcAft>
            </a:pPr>
            <a:r>
              <a:rPr b="1" sz="1050">
                <a:solidFill>
                  <a:srgbClr val="E2E8F0"/>
                </a:solidFill>
              </a:rPr>
              <a:t>•   • Uncertain Movement Handling: </a:t>
            </a:r>
            <a:r>
              <a:rPr b="0" sz="1050">
                <a:solidFill>
                  <a:srgbClr val="E2E8F0"/>
                </a:solidFill>
              </a:rPr>
              <a:t>An uncertain movement receives no numerical score (Score: N/A, UNASSESSED). Zero risk is never assumed.</a:t>
            </a:r>
          </a:p>
        </p:txBody>
      </p:sp>
      <p:sp>
        <p:nvSpPr>
          <p:cNvPr id="11" name="Rounded Rectangle 10"/>
          <p:cNvSpPr/>
          <p:nvPr/>
        </p:nvSpPr>
        <p:spPr>
          <a:xfrm>
            <a:off x="731520" y="5440680"/>
            <a:ext cx="10728655" cy="777240"/>
          </a:xfrm>
          <a:prstGeom prst="roundRect">
            <a:avLst/>
          </a:prstGeom>
          <a:solidFill>
            <a:srgbClr val="1822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F59E0B"/>
                </a:solidFill>
              </a:defRPr>
            </a:pPr>
            <a:r>
              <a:t>⚠️ Important Biomechanical Screening Scope &amp; Clinical Validation Notice</a:t>
            </a:r>
          </a:p>
          <a:p>
            <a:pPr>
              <a:spcAft>
                <a:spcPts val="400"/>
              </a:spcAft>
            </a:pPr>
            <a:r>
              <a:rPr b="1" sz="1050">
                <a:solidFill>
                  <a:srgbClr val="E2E8F0"/>
                </a:solidFill>
              </a:rPr>
              <a:t>• Screening Indicators vs Injury Probability: </a:t>
            </a:r>
            <a:r>
              <a:rPr b="0" sz="1050">
                <a:solidFill>
                  <a:srgbClr val="E2E8F0"/>
                </a:solidFill>
              </a:rPr>
              <a:t>The score measures biomechanical screening indicators, not the probability of injury. A score of 70 denotes elevated postural deviation, not a 70% probability of injury.</a:t>
            </a:r>
          </a:p>
          <a:p>
            <a:pPr>
              <a:spcAft>
                <a:spcPts val="400"/>
              </a:spcAft>
            </a:pPr>
            <a:r>
              <a:rPr b="1" sz="1050">
                <a:solidFill>
                  <a:srgbClr val="10B981"/>
                </a:solidFill>
              </a:rPr>
              <a:t>• Clinical Validation Status: </a:t>
            </a:r>
            <a:r>
              <a:rPr b="0" sz="1050">
                <a:solidFill>
                  <a:srgbClr val="E2E8F0"/>
                </a:solidFill>
              </a:rPr>
              <a:t>Its weights (40, 35, and 25 points) and category boundaries have not been clinically validated. Designed as an engineering screening prototype.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51560"/>
          </a:xfrm>
          <a:prstGeom prst="rect">
            <a:avLst/>
          </a:prstGeom>
          <a:noFill/>
        </p:spPr>
        <p:txBody>
          <a:bodyPr wrap="square" lIns="0" tIns="0" rIns="0" bIns="0">
            <a:spAutoFit/>
          </a:bodyPr>
          <a:lstStyle/>
          <a:p>
            <a:pPr>
              <a:spcAft>
                <a:spcPts val="200"/>
              </a:spcAft>
              <a:defRPr sz="1000" b="1">
                <a:solidFill>
                  <a:srgbClr val="38BDF8"/>
                </a:solidFill>
              </a:defRPr>
            </a:pPr>
            <a:r>
              <a:t>SYSTEM VALIDATION</a:t>
            </a:r>
          </a:p>
          <a:p>
            <a:pPr>
              <a:spcAft>
                <a:spcPts val="200"/>
              </a:spcAft>
              <a:defRPr sz="2100" b="1">
                <a:solidFill>
                  <a:srgbClr val="FFFFFF"/>
                </a:solidFill>
              </a:defRPr>
            </a:pPr>
            <a:r>
              <a:t>Interactive Dashboard Architecture &amp; Verified Demo Cases</a:t>
            </a:r>
          </a:p>
          <a:p>
            <a:pPr>
              <a:defRPr sz="1100">
                <a:solidFill>
                  <a:srgbClr val="94A3B8"/>
                </a:solidFill>
              </a:defRPr>
            </a:pPr>
            <a:r>
              <a:t>Real-time web inference, automated keyframe rendering, and fail-safe uncertainty handling.</a:t>
            </a:r>
          </a:p>
        </p:txBody>
      </p:sp>
      <p:sp>
        <p:nvSpPr>
          <p:cNvPr id="5" name="Rectangle 4"/>
          <p:cNvSpPr/>
          <p:nvPr/>
        </p:nvSpPr>
        <p:spPr>
          <a:xfrm>
            <a:off x="731520" y="641908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64808"/>
            <a:ext cx="4572000" cy="292608"/>
          </a:xfrm>
          <a:prstGeom prst="rect">
            <a:avLst/>
          </a:prstGeom>
          <a:noFill/>
        </p:spPr>
        <p:txBody>
          <a:bodyPr wrap="none" lIns="0" tIns="0" rIns="0" bIns="0">
            <a:spAutoFit/>
          </a:bodyPr>
          <a:lstStyle/>
          <a:p>
            <a:pPr>
              <a:defRPr sz="950">
                <a:solidFill>
                  <a:srgbClr val="94A3B8"/>
                </a:solidFill>
              </a:defRPr>
            </a:pPr>
            <a:r>
              <a:t>Badminton Posture AI | Final B.Tech Capstone Defense</a:t>
            </a:r>
          </a:p>
        </p:txBody>
      </p:sp>
      <p:sp>
        <p:nvSpPr>
          <p:cNvPr id="7" name="TextBox 6"/>
          <p:cNvSpPr txBox="1"/>
          <p:nvPr/>
        </p:nvSpPr>
        <p:spPr>
          <a:xfrm>
            <a:off x="4114800" y="6464808"/>
            <a:ext cx="5029200" cy="292608"/>
          </a:xfrm>
          <a:prstGeom prst="rect">
            <a:avLst/>
          </a:prstGeom>
          <a:noFill/>
        </p:spPr>
        <p:txBody>
          <a:bodyPr wrap="none" lIns="0" tIns="0" rIns="0" bIns="0">
            <a:spAutoFit/>
          </a:bodyPr>
          <a:lstStyle/>
          <a:p>
            <a:pPr algn="ctr">
              <a:defRPr sz="900">
                <a:solidFill>
                  <a:srgbClr val="F59E0B"/>
                </a:solidFill>
              </a:defRPr>
            </a:pPr>
            <a:r>
              <a:t>⚠️ Research Prototype — Observational Screening Score (Not Clinical Diagnosis)</a:t>
            </a:r>
          </a:p>
        </p:txBody>
      </p:sp>
      <p:sp>
        <p:nvSpPr>
          <p:cNvPr id="8" name="TextBox 7"/>
          <p:cNvSpPr txBox="1"/>
          <p:nvPr/>
        </p:nvSpPr>
        <p:spPr>
          <a:xfrm>
            <a:off x="9601200" y="6464808"/>
            <a:ext cx="1858975" cy="292608"/>
          </a:xfrm>
          <a:prstGeom prst="rect">
            <a:avLst/>
          </a:prstGeom>
          <a:noFill/>
        </p:spPr>
        <p:txBody>
          <a:bodyPr wrap="none" lIns="0" tIns="0" rIns="0" bIns="0">
            <a:spAutoFit/>
          </a:bodyPr>
          <a:lstStyle/>
          <a:p>
            <a:pPr algn="r">
              <a:defRPr sz="950" b="1">
                <a:solidFill>
                  <a:srgbClr val="38BDF8"/>
                </a:solidFill>
              </a:defRPr>
            </a:pPr>
            <a:r>
              <a:t>Slide 11 of 12</a:t>
            </a:r>
          </a:p>
        </p:txBody>
      </p:sp>
      <p:sp>
        <p:nvSpPr>
          <p:cNvPr id="9" name="Rounded Rectangle 8"/>
          <p:cNvSpPr/>
          <p:nvPr/>
        </p:nvSpPr>
        <p:spPr>
          <a:xfrm>
            <a:off x="731520" y="1508760"/>
            <a:ext cx="3337560" cy="3566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38BDF8"/>
                </a:solidFill>
              </a:defRPr>
            </a:pPr>
            <a:r>
              <a:t>🏸 Case 1: Overhead Smash</a:t>
            </a:r>
          </a:p>
          <a:p>
            <a:pPr>
              <a:spcAft>
                <a:spcPts val="400"/>
              </a:spcAft>
            </a:pPr>
            <a:r>
              <a:rPr b="1" sz="1050">
                <a:solidFill>
                  <a:srgbClr val="FFFFFF"/>
                </a:solidFill>
              </a:rPr>
              <a:t>• Video Clip: </a:t>
            </a:r>
            <a:r>
              <a:rPr b="0" sz="1050">
                <a:solidFill>
                  <a:srgbClr val="E2E8F0"/>
                </a:solidFill>
              </a:rPr>
              <a:t>test_smash_movement1.mp4 (3.88s, 1080p)</a:t>
            </a:r>
          </a:p>
          <a:p>
            <a:pPr>
              <a:spcAft>
                <a:spcPts val="400"/>
              </a:spcAft>
            </a:pPr>
            <a:r>
              <a:rPr b="1" sz="1050">
                <a:solidFill>
                  <a:srgbClr val="FFFFFF"/>
                </a:solidFill>
              </a:rPr>
              <a:t>• Tracking Quality: </a:t>
            </a:r>
            <a:r>
              <a:rPr b="0" sz="1050">
                <a:solidFill>
                  <a:srgbClr val="E2E8F0"/>
                </a:solidFill>
              </a:rPr>
              <a:t>Overall: 0.621 | Lower-Body: 0.908</a:t>
            </a:r>
          </a:p>
          <a:p>
            <a:pPr>
              <a:spcAft>
                <a:spcPts val="400"/>
              </a:spcAft>
            </a:pPr>
            <a:r>
              <a:rPr b="1" sz="1050">
                <a:solidFill>
                  <a:srgbClr val="10B981"/>
                </a:solidFill>
              </a:rPr>
              <a:t>• Movement Output: </a:t>
            </a:r>
            <a:r>
              <a:rPr b="0" sz="1050">
                <a:solidFill>
                  <a:srgbClr val="E2E8F0"/>
                </a:solidFill>
              </a:rPr>
              <a:t>SMASH_LANDING (65.9% confidence)</a:t>
            </a:r>
          </a:p>
          <a:p>
            <a:pPr>
              <a:spcAft>
                <a:spcPts val="400"/>
              </a:spcAft>
            </a:pPr>
            <a:r>
              <a:rPr b="1" sz="1050">
                <a:solidFill>
                  <a:srgbClr val="FFFFFF"/>
                </a:solidFill>
              </a:rPr>
              <a:t>• Candidate Detector: </a:t>
            </a:r>
            <a:r>
              <a:rPr b="0" sz="1050">
                <a:solidFill>
                  <a:srgbClr val="E2E8F0"/>
                </a:solidFill>
              </a:rPr>
              <a:t>Proposed CHANGE_OF_DIRECTION; RF correctly classified as SMASH_LANDING.</a:t>
            </a:r>
          </a:p>
          <a:p>
            <a:pPr>
              <a:spcAft>
                <a:spcPts val="400"/>
              </a:spcAft>
            </a:pPr>
            <a:r>
              <a:rPr b="1" sz="1050">
                <a:solidFill>
                  <a:srgbClr val="10B981"/>
                </a:solidFill>
              </a:rPr>
              <a:t>• Biomechanical Score: </a:t>
            </a:r>
            <a:r>
              <a:rPr b="0" sz="1050">
                <a:solidFill>
                  <a:srgbClr val="E2E8F0"/>
                </a:solidFill>
              </a:rPr>
              <a:t>12.6/100, LOW</a:t>
            </a:r>
          </a:p>
          <a:p>
            <a:pPr>
              <a:spcAft>
                <a:spcPts val="400"/>
              </a:spcAft>
            </a:pPr>
            <a:r>
              <a:rPr b="1" sz="1050">
                <a:solidFill>
                  <a:srgbClr val="FFFFFF"/>
                </a:solidFill>
              </a:rPr>
              <a:t>• Observed Indicators: </a:t>
            </a:r>
            <a:r>
              <a:rPr b="0" sz="1050">
                <a:solidFill>
                  <a:srgbClr val="E2E8F0"/>
                </a:solidFill>
              </a:rPr>
              <a:t>Knee: 0.0 pts (102.1°), Torso-lean: 0.0 pts (14.7°), Asymmetry: 12.6 pts (27.7°).</a:t>
            </a:r>
          </a:p>
          <a:p>
            <a:pPr>
              <a:spcAft>
                <a:spcPts val="400"/>
              </a:spcAft>
            </a:pPr>
            <a:r>
              <a:rPr b="1" sz="1050">
                <a:solidFill>
                  <a:srgbClr val="FFFFFF"/>
                </a:solidFill>
              </a:rPr>
              <a:t>• Assessment Status: </a:t>
            </a:r>
            <a:r>
              <a:rPr b="0" sz="1050">
                <a:solidFill>
                  <a:srgbClr val="E2E8F0"/>
                </a:solidFill>
              </a:rPr>
              <a:t>PROVISIONAL (Unvalidated Cutoffs)</a:t>
            </a:r>
          </a:p>
        </p:txBody>
      </p:sp>
      <p:sp>
        <p:nvSpPr>
          <p:cNvPr id="10" name="Rounded Rectangle 9"/>
          <p:cNvSpPr/>
          <p:nvPr/>
        </p:nvSpPr>
        <p:spPr>
          <a:xfrm>
            <a:off x="4389120" y="1508760"/>
            <a:ext cx="3337560" cy="3566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2DD4BF"/>
                </a:solidFill>
              </a:defRPr>
            </a:pPr>
            <a:r>
              <a:t>🦵 Case 2: Forward Net Lunge</a:t>
            </a:r>
          </a:p>
          <a:p>
            <a:pPr>
              <a:spcAft>
                <a:spcPts val="400"/>
              </a:spcAft>
            </a:pPr>
            <a:r>
              <a:rPr b="1" sz="1050">
                <a:solidFill>
                  <a:srgbClr val="FFFFFF"/>
                </a:solidFill>
              </a:rPr>
              <a:t>• Video Clip: </a:t>
            </a:r>
            <a:r>
              <a:rPr b="0" sz="1050">
                <a:solidFill>
                  <a:srgbClr val="E2E8F0"/>
                </a:solidFill>
              </a:rPr>
              <a:t>cand_006_LUNGE...mp4 (1.27s)</a:t>
            </a:r>
          </a:p>
          <a:p>
            <a:pPr>
              <a:spcAft>
                <a:spcPts val="400"/>
              </a:spcAft>
            </a:pPr>
            <a:r>
              <a:rPr b="1" sz="1050">
                <a:solidFill>
                  <a:srgbClr val="FFFFFF"/>
                </a:solidFill>
              </a:rPr>
              <a:t>• Tracking Quality: </a:t>
            </a:r>
            <a:r>
              <a:rPr b="0" sz="1050">
                <a:solidFill>
                  <a:srgbClr val="E2E8F0"/>
                </a:solidFill>
              </a:rPr>
              <a:t>Overall: 0.937 | Lower-Body: 0.951</a:t>
            </a:r>
          </a:p>
          <a:p>
            <a:pPr>
              <a:spcAft>
                <a:spcPts val="400"/>
              </a:spcAft>
            </a:pPr>
            <a:r>
              <a:rPr b="1" sz="1050">
                <a:solidFill>
                  <a:srgbClr val="10B981"/>
                </a:solidFill>
              </a:rPr>
              <a:t>• Movement Output: </a:t>
            </a:r>
            <a:r>
              <a:rPr b="0" sz="1050">
                <a:solidFill>
                  <a:srgbClr val="E2E8F0"/>
                </a:solidFill>
              </a:rPr>
              <a:t>LUNGE (94.1% confidence)</a:t>
            </a:r>
          </a:p>
          <a:p>
            <a:pPr>
              <a:spcAft>
                <a:spcPts val="400"/>
              </a:spcAft>
            </a:pPr>
            <a:r>
              <a:rPr b="1" sz="1050">
                <a:solidFill>
                  <a:srgbClr val="FFFFFF"/>
                </a:solidFill>
              </a:rPr>
              <a:t>• Keyframe Selection: </a:t>
            </a:r>
            <a:r>
              <a:rPr b="0" sz="1050">
                <a:solidFill>
                  <a:srgbClr val="E2E8F0"/>
                </a:solidFill>
              </a:rPr>
              <a:t>Isolated frame 23 (0.44s), capturing exact peak plant depth.</a:t>
            </a:r>
          </a:p>
          <a:p>
            <a:pPr>
              <a:spcAft>
                <a:spcPts val="400"/>
              </a:spcAft>
            </a:pPr>
            <a:r>
              <a:rPr b="1" sz="1050">
                <a:solidFill>
                  <a:srgbClr val="10B981"/>
                </a:solidFill>
              </a:rPr>
              <a:t>• Biomechanical Score: </a:t>
            </a:r>
            <a:r>
              <a:rPr b="0" sz="1050">
                <a:solidFill>
                  <a:srgbClr val="E2E8F0"/>
                </a:solidFill>
              </a:rPr>
              <a:t>25.0/100, LOW</a:t>
            </a:r>
          </a:p>
          <a:p>
            <a:pPr>
              <a:spcAft>
                <a:spcPts val="400"/>
              </a:spcAft>
            </a:pPr>
            <a:r>
              <a:rPr b="1" sz="1050">
                <a:solidFill>
                  <a:srgbClr val="FFFFFF"/>
                </a:solidFill>
              </a:rPr>
              <a:t>• Observed Indicators: </a:t>
            </a:r>
            <a:r>
              <a:rPr b="0" sz="1050">
                <a:solidFill>
                  <a:srgbClr val="E2E8F0"/>
                </a:solidFill>
              </a:rPr>
              <a:t>Knee: 0.0 pts (102.5°), Torso-lean: 25.0 pts (36.4°), Asymmetry: 0.0 pts (8.3°).</a:t>
            </a:r>
          </a:p>
          <a:p>
            <a:pPr>
              <a:spcAft>
                <a:spcPts val="400"/>
              </a:spcAft>
            </a:pPr>
            <a:r>
              <a:rPr b="1" sz="1050">
                <a:solidFill>
                  <a:srgbClr val="FFFFFF"/>
                </a:solidFill>
              </a:rPr>
              <a:t>• Assessment Status: </a:t>
            </a:r>
            <a:r>
              <a:rPr b="0" sz="1050">
                <a:solidFill>
                  <a:srgbClr val="E2E8F0"/>
                </a:solidFill>
              </a:rPr>
              <a:t>PROVISIONAL (Unvalidated Cutoffs)</a:t>
            </a:r>
          </a:p>
        </p:txBody>
      </p:sp>
      <p:sp>
        <p:nvSpPr>
          <p:cNvPr id="11" name="Rounded Rectangle 10"/>
          <p:cNvSpPr/>
          <p:nvPr/>
        </p:nvSpPr>
        <p:spPr>
          <a:xfrm>
            <a:off x="8046720" y="1508760"/>
            <a:ext cx="3413455" cy="3566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F59E0B"/>
                </a:solidFill>
              </a:defRPr>
            </a:pPr>
            <a:r>
              <a:t>❓ Case 3: Ambiguity Safeguard</a:t>
            </a:r>
          </a:p>
          <a:p>
            <a:pPr>
              <a:spcAft>
                <a:spcPts val="400"/>
              </a:spcAft>
            </a:pPr>
            <a:r>
              <a:rPr b="1" sz="1050">
                <a:solidFill>
                  <a:srgbClr val="FFFFFF"/>
                </a:solidFill>
              </a:rPr>
              <a:t>• Video Clip: </a:t>
            </a:r>
            <a:r>
              <a:rPr b="0" sz="1050">
                <a:solidFill>
                  <a:srgbClr val="E2E8F0"/>
                </a:solidFill>
              </a:rPr>
              <a:t>cand_014_UNCERTAIN...mp4 (1.47s)</a:t>
            </a:r>
          </a:p>
          <a:p>
            <a:pPr>
              <a:spcAft>
                <a:spcPts val="400"/>
              </a:spcAft>
            </a:pPr>
            <a:r>
              <a:rPr b="1" sz="1050">
                <a:solidFill>
                  <a:srgbClr val="FFFFFF"/>
                </a:solidFill>
              </a:rPr>
              <a:t>• Candidate Detector: </a:t>
            </a:r>
            <a:r>
              <a:rPr b="0" sz="1050">
                <a:solidFill>
                  <a:srgbClr val="E2E8F0"/>
                </a:solidFill>
              </a:rPr>
              <a:t>UNCERTAIN (No movement heuristic met threshold).</a:t>
            </a:r>
          </a:p>
          <a:p>
            <a:pPr>
              <a:spcAft>
                <a:spcPts val="400"/>
              </a:spcAft>
            </a:pPr>
            <a:r>
              <a:rPr b="1" sz="1050">
                <a:solidFill>
                  <a:srgbClr val="FFFFFF"/>
                </a:solidFill>
              </a:rPr>
              <a:t>• Classifier Suggestion: </a:t>
            </a:r>
            <a:r>
              <a:rPr b="0" sz="1050">
                <a:solidFill>
                  <a:srgbClr val="E2E8F0"/>
                </a:solidFill>
              </a:rPr>
              <a:t>CHANGE_OF_DIRECTION (63.6%)</a:t>
            </a:r>
          </a:p>
          <a:p>
            <a:pPr>
              <a:spcAft>
                <a:spcPts val="400"/>
              </a:spcAft>
            </a:pPr>
            <a:r>
              <a:rPr b="1" sz="1050">
                <a:solidFill>
                  <a:srgbClr val="F59E0B"/>
                </a:solidFill>
              </a:rPr>
              <a:t>• Safeguard Triggered: </a:t>
            </a:r>
            <a:r>
              <a:rPr b="0" sz="1050">
                <a:solidFill>
                  <a:srgbClr val="E2E8F0"/>
                </a:solidFill>
              </a:rPr>
              <a:t>System REFUSES to override detector uncertainty. Final label remains UNCERTAIN.</a:t>
            </a:r>
          </a:p>
          <a:p>
            <a:pPr>
              <a:spcAft>
                <a:spcPts val="400"/>
              </a:spcAft>
            </a:pPr>
            <a:r>
              <a:rPr b="1" sz="1050">
                <a:solidFill>
                  <a:srgbClr val="94A3B8"/>
                </a:solidFill>
              </a:rPr>
              <a:t>• Biomechanical Score: </a:t>
            </a:r>
            <a:r>
              <a:rPr b="0" sz="1050">
                <a:solidFill>
                  <a:srgbClr val="E2E8F0"/>
                </a:solidFill>
              </a:rPr>
              <a:t>An uncertain movement receives no numerical score (Score: N/A, UNASSESSED)</a:t>
            </a:r>
          </a:p>
          <a:p>
            <a:pPr>
              <a:spcAft>
                <a:spcPts val="400"/>
              </a:spcAft>
            </a:pPr>
            <a:r>
              <a:rPr b="1" sz="1050">
                <a:solidFill>
                  <a:srgbClr val="10B981"/>
                </a:solidFill>
              </a:rPr>
              <a:t>• Assessment Status: </a:t>
            </a:r>
            <a:r>
              <a:rPr b="0" sz="1050">
                <a:solidFill>
                  <a:srgbClr val="E2E8F0"/>
                </a:solidFill>
              </a:rPr>
              <a:t>UNASSESSED (Safely aborted)</a:t>
            </a:r>
          </a:p>
          <a:p>
            <a:pPr>
              <a:spcAft>
                <a:spcPts val="400"/>
              </a:spcAft>
            </a:pPr>
            <a:r>
              <a:rPr b="1" sz="1050">
                <a:solidFill>
                  <a:srgbClr val="FFFFFF"/>
                </a:solidFill>
              </a:rPr>
              <a:t>• Scientific Value: </a:t>
            </a:r>
            <a:r>
              <a:rPr b="0" sz="1050">
                <a:solidFill>
                  <a:srgbClr val="E2E8F0"/>
                </a:solidFill>
              </a:rPr>
              <a:t>Guarantees zero false predictions on ambiguous footwork.</a:t>
            </a:r>
          </a:p>
        </p:txBody>
      </p:sp>
      <p:sp>
        <p:nvSpPr>
          <p:cNvPr id="12" name="Rounded Rectangle 11"/>
          <p:cNvSpPr/>
          <p:nvPr/>
        </p:nvSpPr>
        <p:spPr>
          <a:xfrm>
            <a:off x="731520" y="5257800"/>
            <a:ext cx="10728655" cy="960120"/>
          </a:xfrm>
          <a:prstGeom prst="roundRect">
            <a:avLst/>
          </a:prstGeom>
          <a:solidFill>
            <a:srgbClr val="18223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2DD4BF"/>
                </a:solidFill>
              </a:defRPr>
            </a:pPr>
            <a:r>
              <a:t>💻 Application Architecture on Port 18502</a:t>
            </a:r>
          </a:p>
          <a:p>
            <a:pPr>
              <a:spcAft>
                <a:spcPts val="400"/>
              </a:spcAft>
            </a:pPr>
            <a:r>
              <a:rPr b="1" sz="1050">
                <a:solidFill>
                  <a:srgbClr val="38BDF8"/>
                </a:solidFill>
              </a:rPr>
              <a:t>• Interactive Streamlit Engine: </a:t>
            </a:r>
            <a:r>
              <a:rPr b="0" sz="1050">
                <a:solidFill>
                  <a:srgbClr val="E2E8F0"/>
                </a:solidFill>
              </a:rPr>
              <a:t>Live video uploader, annotated playback, keyframe inspection, probability charts, and numerical risk score breakdown table.</a:t>
            </a:r>
          </a:p>
          <a:p>
            <a:pPr>
              <a:spcAft>
                <a:spcPts val="400"/>
              </a:spcAft>
            </a:pPr>
            <a:r>
              <a:rPr b="1" sz="1050">
                <a:solidFill>
                  <a:srgbClr val="10B981"/>
                </a:solidFill>
              </a:rPr>
              <a:t>• SQLite Run History Database: </a:t>
            </a:r>
            <a:r>
              <a:rPr b="0" sz="1050">
                <a:solidFill>
                  <a:srgbClr val="E2E8F0"/>
                </a:solidFill>
              </a:rPr>
              <a:t>Persistent session logging of video names, timestamps, movement types, risk scores, and JSON manifests for longitudinal tracking.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728655" cy="1051560"/>
          </a:xfrm>
          <a:prstGeom prst="rect">
            <a:avLst/>
          </a:prstGeom>
          <a:noFill/>
        </p:spPr>
        <p:txBody>
          <a:bodyPr wrap="square" lIns="0" tIns="0" rIns="0" bIns="0">
            <a:spAutoFit/>
          </a:bodyPr>
          <a:lstStyle/>
          <a:p>
            <a:pPr>
              <a:spcAft>
                <a:spcPts val="200"/>
              </a:spcAft>
              <a:defRPr sz="1000" b="1">
                <a:solidFill>
                  <a:srgbClr val="38BDF8"/>
                </a:solidFill>
              </a:defRPr>
            </a:pPr>
            <a:r>
              <a:t>REFLECTIONS &amp; ROADMAP</a:t>
            </a:r>
          </a:p>
          <a:p>
            <a:pPr>
              <a:spcAft>
                <a:spcPts val="200"/>
              </a:spcAft>
              <a:defRPr sz="2100" b="1">
                <a:solidFill>
                  <a:srgbClr val="FFFFFF"/>
                </a:solidFill>
              </a:defRPr>
            </a:pPr>
            <a:r>
              <a:t>Technical Limitations, Future Priorities &amp; Conclusion</a:t>
            </a:r>
          </a:p>
          <a:p>
            <a:pPr>
              <a:defRPr sz="1100">
                <a:solidFill>
                  <a:srgbClr val="94A3B8"/>
                </a:solidFill>
              </a:defRPr>
            </a:pPr>
            <a:r>
              <a:t>Reflecting on research constraints, outlining next-phase engineering, and project wrap-up.</a:t>
            </a:r>
          </a:p>
        </p:txBody>
      </p:sp>
      <p:sp>
        <p:nvSpPr>
          <p:cNvPr id="5" name="Rectangle 4"/>
          <p:cNvSpPr/>
          <p:nvPr/>
        </p:nvSpPr>
        <p:spPr>
          <a:xfrm>
            <a:off x="731520" y="6419088"/>
            <a:ext cx="10728655" cy="13716"/>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64808"/>
            <a:ext cx="4572000" cy="292608"/>
          </a:xfrm>
          <a:prstGeom prst="rect">
            <a:avLst/>
          </a:prstGeom>
          <a:noFill/>
        </p:spPr>
        <p:txBody>
          <a:bodyPr wrap="none" lIns="0" tIns="0" rIns="0" bIns="0">
            <a:spAutoFit/>
          </a:bodyPr>
          <a:lstStyle/>
          <a:p>
            <a:pPr>
              <a:defRPr sz="950">
                <a:solidFill>
                  <a:srgbClr val="94A3B8"/>
                </a:solidFill>
              </a:defRPr>
            </a:pPr>
            <a:r>
              <a:t>Badminton Posture AI | Final B.Tech Capstone Defense</a:t>
            </a:r>
          </a:p>
        </p:txBody>
      </p:sp>
      <p:sp>
        <p:nvSpPr>
          <p:cNvPr id="7" name="TextBox 6"/>
          <p:cNvSpPr txBox="1"/>
          <p:nvPr/>
        </p:nvSpPr>
        <p:spPr>
          <a:xfrm>
            <a:off x="4114800" y="6464808"/>
            <a:ext cx="5029200" cy="292608"/>
          </a:xfrm>
          <a:prstGeom prst="rect">
            <a:avLst/>
          </a:prstGeom>
          <a:noFill/>
        </p:spPr>
        <p:txBody>
          <a:bodyPr wrap="none" lIns="0" tIns="0" rIns="0" bIns="0">
            <a:spAutoFit/>
          </a:bodyPr>
          <a:lstStyle/>
          <a:p>
            <a:pPr algn="ctr">
              <a:defRPr sz="900">
                <a:solidFill>
                  <a:srgbClr val="F59E0B"/>
                </a:solidFill>
              </a:defRPr>
            </a:pPr>
            <a:r>
              <a:t>⚠️ Research Prototype — Observational Screening Score (Not Clinical Diagnosis)</a:t>
            </a:r>
          </a:p>
        </p:txBody>
      </p:sp>
      <p:sp>
        <p:nvSpPr>
          <p:cNvPr id="8" name="TextBox 7"/>
          <p:cNvSpPr txBox="1"/>
          <p:nvPr/>
        </p:nvSpPr>
        <p:spPr>
          <a:xfrm>
            <a:off x="9601200" y="6464808"/>
            <a:ext cx="1858975" cy="292608"/>
          </a:xfrm>
          <a:prstGeom prst="rect">
            <a:avLst/>
          </a:prstGeom>
          <a:noFill/>
        </p:spPr>
        <p:txBody>
          <a:bodyPr wrap="none" lIns="0" tIns="0" rIns="0" bIns="0">
            <a:spAutoFit/>
          </a:bodyPr>
          <a:lstStyle/>
          <a:p>
            <a:pPr algn="r">
              <a:defRPr sz="950" b="1">
                <a:solidFill>
                  <a:srgbClr val="38BDF8"/>
                </a:solidFill>
              </a:defRPr>
            </a:pPr>
            <a:r>
              <a:t>Slide 12 of 12</a:t>
            </a:r>
          </a:p>
        </p:txBody>
      </p:sp>
      <p:sp>
        <p:nvSpPr>
          <p:cNvPr id="9" name="Rounded Rectangle 8"/>
          <p:cNvSpPr/>
          <p:nvPr/>
        </p:nvSpPr>
        <p:spPr>
          <a:xfrm>
            <a:off x="731520" y="1508760"/>
            <a:ext cx="33375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F59E0B"/>
                </a:solidFill>
              </a:defRPr>
            </a:pPr>
            <a:r>
              <a:t>⚠️ Technical Limitations</a:t>
            </a:r>
          </a:p>
          <a:p>
            <a:pPr>
              <a:spcAft>
                <a:spcPts val="400"/>
              </a:spcAft>
            </a:pPr>
            <a:r>
              <a:rPr b="1" sz="1050">
                <a:solidFill>
                  <a:srgbClr val="FFFFFF"/>
                </a:solidFill>
              </a:rPr>
              <a:t>• Monocular Perspective Error: </a:t>
            </a:r>
            <a:r>
              <a:rPr b="0" sz="1050">
                <a:solidFill>
                  <a:srgbClr val="E2E8F0"/>
                </a:solidFill>
              </a:rPr>
              <a:t>2D camera foreshortening distorts 3D joint angle measurements during off-axis court movements.</a:t>
            </a:r>
          </a:p>
          <a:p>
            <a:pPr>
              <a:spcAft>
                <a:spcPts val="400"/>
              </a:spcAft>
            </a:pPr>
            <a:r>
              <a:rPr b="1" sz="1050">
                <a:solidFill>
                  <a:srgbClr val="FFFFFF"/>
                </a:solidFill>
              </a:rPr>
              <a:t>• Anatomical Self-Occlusion: </a:t>
            </a:r>
            <a:r>
              <a:rPr b="0" sz="1050">
                <a:solidFill>
                  <a:srgbClr val="E2E8F0"/>
                </a:solidFill>
              </a:rPr>
              <a:t>Deep lunges away from camera cause the lead thigh to occlude the trailing leg.</a:t>
            </a:r>
          </a:p>
          <a:p>
            <a:pPr>
              <a:spcAft>
                <a:spcPts val="400"/>
              </a:spcAft>
            </a:pPr>
            <a:r>
              <a:rPr b="1" sz="1050">
                <a:solidFill>
                  <a:srgbClr val="FFFFFF"/>
                </a:solidFill>
              </a:rPr>
              <a:t>• Small Cohort Constraint: </a:t>
            </a:r>
            <a:r>
              <a:rPr b="0" sz="1050">
                <a:solidFill>
                  <a:srgbClr val="E2E8F0"/>
                </a:solidFill>
              </a:rPr>
              <a:t>Evaluated across 6 athletes with Player 05 representing 48% of events; limits cross-demographic transfer.</a:t>
            </a:r>
          </a:p>
          <a:p>
            <a:pPr>
              <a:spcAft>
                <a:spcPts val="400"/>
              </a:spcAft>
            </a:pPr>
            <a:r>
              <a:rPr b="1" sz="1050">
                <a:solidFill>
                  <a:srgbClr val="FFFFFF"/>
                </a:solidFill>
              </a:rPr>
              <a:t>• Unvalidated Cutoffs: </a:t>
            </a:r>
            <a:r>
              <a:rPr b="0" sz="1050">
                <a:solidFill>
                  <a:srgbClr val="E2E8F0"/>
                </a:solidFill>
              </a:rPr>
              <a:t>Risk scoring weights (40/35/25) and score bands are engineering heuristics, not clinically calibrated.</a:t>
            </a:r>
          </a:p>
        </p:txBody>
      </p:sp>
      <p:sp>
        <p:nvSpPr>
          <p:cNvPr id="10" name="Rounded Rectangle 9"/>
          <p:cNvSpPr/>
          <p:nvPr/>
        </p:nvSpPr>
        <p:spPr>
          <a:xfrm>
            <a:off x="4389120" y="1508760"/>
            <a:ext cx="3337560"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38BDF8"/>
                </a:solidFill>
              </a:defRPr>
            </a:pPr>
            <a:r>
              <a:t>🚀 Future Research Roadmap</a:t>
            </a:r>
          </a:p>
          <a:p>
            <a:pPr>
              <a:spcAft>
                <a:spcPts val="400"/>
              </a:spcAft>
            </a:pPr>
            <a:r>
              <a:rPr b="1" sz="1050">
                <a:solidFill>
                  <a:srgbClr val="FFFFFF"/>
                </a:solidFill>
              </a:rPr>
              <a:t>• 1. Multi-Camera Synchronized Capture: </a:t>
            </a:r>
            <a:r>
              <a:rPr b="0" sz="1050">
                <a:solidFill>
                  <a:srgbClr val="E2E8F0"/>
                </a:solidFill>
              </a:rPr>
              <a:t>Calibrate multi-view stereo cameras to eliminate monocular foreshortening and reconstruct metric 3D MoCap.</a:t>
            </a:r>
          </a:p>
          <a:p>
            <a:pPr>
              <a:spcAft>
                <a:spcPts val="400"/>
              </a:spcAft>
            </a:pPr>
            <a:r>
              <a:rPr b="1" sz="1050">
                <a:solidFill>
                  <a:srgbClr val="FFFFFF"/>
                </a:solidFill>
              </a:rPr>
              <a:t>• 2. High-Frame-Rate Capture (120–240 FPS): </a:t>
            </a:r>
            <a:r>
              <a:rPr b="0" sz="1050">
                <a:solidFill>
                  <a:srgbClr val="E2E8F0"/>
                </a:solidFill>
              </a:rPr>
              <a:t>Eliminates high-speed racket swing blur and provides sub-frame landing impact resolution.</a:t>
            </a:r>
          </a:p>
          <a:p>
            <a:pPr>
              <a:spcAft>
                <a:spcPts val="400"/>
              </a:spcAft>
            </a:pPr>
            <a:r>
              <a:rPr b="1" sz="1050">
                <a:solidFill>
                  <a:srgbClr val="FFFFFF"/>
                </a:solidFill>
              </a:rPr>
              <a:t>• 3. Prospective Sports Medicine Study: </a:t>
            </a:r>
            <a:r>
              <a:rPr b="0" sz="1050">
                <a:solidFill>
                  <a:srgbClr val="E2E8F0"/>
                </a:solidFill>
              </a:rPr>
              <a:t>Collaborate with sports biomechanics clinics to establish calibrated injury thresholds from longitudinal athlete health records.</a:t>
            </a:r>
          </a:p>
          <a:p>
            <a:pPr>
              <a:spcAft>
                <a:spcPts val="400"/>
              </a:spcAft>
            </a:pPr>
            <a:r>
              <a:rPr b="1" sz="1050">
                <a:solidFill>
                  <a:srgbClr val="FFFFFF"/>
                </a:solidFill>
              </a:rPr>
              <a:t>• 4. Expanded Demographic Cohorts: </a:t>
            </a:r>
            <a:r>
              <a:rPr b="0" sz="1050">
                <a:solidFill>
                  <a:srgbClr val="E2E8F0"/>
                </a:solidFill>
              </a:rPr>
              <a:t>Expand dataset to 50+ athletes across gender, age, and competitive playing tiers.</a:t>
            </a:r>
          </a:p>
        </p:txBody>
      </p:sp>
      <p:sp>
        <p:nvSpPr>
          <p:cNvPr id="11" name="Rounded Rectangle 10"/>
          <p:cNvSpPr/>
          <p:nvPr/>
        </p:nvSpPr>
        <p:spPr>
          <a:xfrm>
            <a:off x="8046720" y="1508760"/>
            <a:ext cx="3413455" cy="4663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28016" rIns="164592" bIns="128016"/>
          <a:lstStyle/>
          <a:p>
            <a:pPr algn="ctr">
              <a:spcAft>
                <a:spcPts val="500"/>
              </a:spcAft>
              <a:defRPr sz="1350" b="1">
                <a:solidFill>
                  <a:srgbClr val="10B981"/>
                </a:solidFill>
              </a:defRPr>
            </a:pPr>
            <a:r>
              <a:t>🏁 Project Conclusion</a:t>
            </a:r>
          </a:p>
          <a:p>
            <a:pPr>
              <a:spcAft>
                <a:spcPts val="400"/>
              </a:spcAft>
            </a:pPr>
            <a:r>
              <a:rPr b="1" sz="1050">
                <a:solidFill>
                  <a:srgbClr val="FFFFFF"/>
                </a:solidFill>
              </a:rPr>
              <a:t>• End-to-End Vision Pipeline: </a:t>
            </a:r>
            <a:r>
              <a:rPr b="0" sz="1050">
                <a:solidFill>
                  <a:srgbClr val="E2E8F0"/>
                </a:solidFill>
              </a:rPr>
              <a:t>Successfully designed, built, and verified a complete monocular AI framework for badminton motion analysis.</a:t>
            </a:r>
          </a:p>
          <a:p>
            <a:pPr>
              <a:spcAft>
                <a:spcPts val="400"/>
              </a:spcAft>
            </a:pPr>
            <a:r>
              <a:rPr b="1" sz="1050">
                <a:solidFill>
                  <a:srgbClr val="FFFFFF"/>
                </a:solidFill>
              </a:rPr>
              <a:t>• Rigorous ML Evaluation: </a:t>
            </a:r>
            <a:r>
              <a:rPr b="0" sz="1050">
                <a:solidFill>
                  <a:srgbClr val="E2E8F0"/>
                </a:solidFill>
              </a:rPr>
              <a:t>Achieved 62.1% accuracy and 0.576 macro-F1 under zero-leakage Player-Grouped Cross-Validation (+29% over baseline).</a:t>
            </a:r>
          </a:p>
          <a:p>
            <a:pPr>
              <a:spcAft>
                <a:spcPts val="400"/>
              </a:spcAft>
            </a:pPr>
            <a:r>
              <a:rPr b="1" sz="1050">
                <a:solidFill>
                  <a:srgbClr val="FFFFFF"/>
                </a:solidFill>
              </a:rPr>
              <a:t>• Biomechanical Innovation: </a:t>
            </a:r>
            <a:r>
              <a:rPr b="0" sz="1050">
                <a:solidFill>
                  <a:srgbClr val="E2E8F0"/>
                </a:solidFill>
              </a:rPr>
              <a:t>Decoupled lower-body tracking quality and developed plant-depth keyframe localization.</a:t>
            </a:r>
          </a:p>
          <a:p>
            <a:pPr>
              <a:spcAft>
                <a:spcPts val="400"/>
              </a:spcAft>
            </a:pPr>
            <a:r>
              <a:rPr b="1" sz="1050">
                <a:solidFill>
                  <a:srgbClr val="FFFFFF"/>
                </a:solidFill>
              </a:rPr>
              <a:t>• Standardized Risk Scoring: </a:t>
            </a:r>
            <a:r>
              <a:rPr b="0" sz="1050">
                <a:solidFill>
                  <a:srgbClr val="E2E8F0"/>
                </a:solidFill>
              </a:rPr>
              <a:t>Implemented deterministic 0–100 posture screening score with Low/Mod/High categories and strict uncertainty gating.</a:t>
            </a:r>
          </a:p>
          <a:p>
            <a:pPr>
              <a:spcAft>
                <a:spcPts val="400"/>
              </a:spcAft>
            </a:pPr>
            <a:r>
              <a:rPr b="1" sz="1050">
                <a:solidFill>
                  <a:srgbClr val="FFFFFF"/>
                </a:solidFill>
              </a:rPr>
              <a:t>• Production-Grade Engineering: </a:t>
            </a:r>
            <a:r>
              <a:rPr b="0" sz="1050">
                <a:solidFill>
                  <a:srgbClr val="E2E8F0"/>
                </a:solidFill>
              </a:rPr>
              <a:t>Streamlit UI, SQLite audit logging, and 120 automated tests passing with 100% pass 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